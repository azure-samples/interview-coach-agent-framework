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8" d="100"/>
          <a:sy n="128" d="100"/>
        </p:scale>
        <p:origin x="106" y="30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2137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'Simplifying Agentic Applications with Aspire and Agent Framework'.</a:t>
            </a:r>
          </a:p>
          <a:p>
            <a:endParaRPr/>
          </a:p>
          <a:p>
            <a:r>
              <a:t>This talk is about cutting through the complexity of building AI agent applications. We'll use a real-world sample — an Interview Coach — to show how three technologies (Agent Framework, MCP, and Aspire) each eliminate a layer of complexity.</a:t>
            </a:r>
          </a:p>
          <a:p>
            <a:endParaRPr/>
          </a:p>
          <a:p>
            <a:r>
              <a:t>By the end, you'll see how to go from cloning a repo to a fully working dev environment with one command, and then deploy to production with another.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agents are exciting — they reason, use tools, collaborate, and solve complex problems. The industry is moving toward multi-agent systems where specialized agents work together. But building these systems is harder than it looks…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When you sit down to build an agent app, you realize you need: an LLM provider, tool servers, a database, a UI, configuration management, service discovery, health checks, logging, tracing, and deployment infrastructure. This is a distributed systems problem, not just an AI problem.</a:t>
            </a:r>
          </a:p>
          <a:p>
            <a:endParaRPr/>
          </a:p>
          <a:p>
            <a:r>
              <a:t>Walk through each box and explain that each one is a service someone has to set up, configure, monitor, and deploy.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talk structure: we'll tackle complexity in three layers. Layer 1: the AI/LLM layer (Agent Framework solves this). Layer 2: the tool/integration layer (MCP solves this). Layer 3: the infrastructure/orchestration layer (Aspire solves this). Each layer has its own dedicated solution.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thesis of the talk. Pause here and let it sink in. The dream: clone a repo, run one command, everything works. Then deploy to production with one more command. That's exactly what we're going to demonstrate.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Briefly introduce the app. It's an AI-powered interview practice coach. But emphasize: the app is the VEHICLE, not the topic. The patterns we'll explore apply to any agent application — support bots, sales assistants, tutors, intake forms. We picked interview coaching because it has a natural multi-step workflow.</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Let's start with Layer 1 — the AI/LLM layer. Agent Framework is a .NET library for building production AI agents. It handles the hard parts: structured instructions, tool calling, multi-agent orchestration.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 Framework is Microsoft's .NET library for building production-grade AI agents. Key points: it's OpenAI-compatible (uses IChatClient from Microsoft.Extensions.AI), supports structured instructions, tool calling, and multi-agent orchestration out of the box. It's NOT Semantic Kernel (general orchestration) or AutoGen (research). Agent Framework is for production agents and web APIs.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most important slide for the provider story. IChatClient from Microsoft.Extensions.AI is the interface that makes everything swappable. Your agent code never references a specific LLM provider. You configure it once in AppHost, and the agent just calls IChatClient. Show the enum of providers and the switch expression.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how minimal the code is to create a working agent. ChatClientAgent takes: a chat client, a name, instructions, and tools. That's it. Contrast this with doing it from scratch: you'd need HTTP client setup, prompt formatting, tool call parsing, response streaming, error handling…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Single agent works for simple cases, but for complex workflows you want specialists. In our Interview Coach, each phase of the interview is a separate concern. A single agent with a massive prompt gets confused, loses context, and is hard to debug. Multi-agent = separation of concerns for AI.</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5 agents and their roles. Emphasize the sequential chain: Triage routes initially, then each specialist hands off to the next. Triage is the fallback for out-of-order requests. Each agent only gets the MCP tools it needs.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actual code that wires up the multi-agent topology. CreateHandoffBuilderWith sets the entry point (Triage). WithHandoffs defines which agents can hand off to which. The sequential chain avoids stateless re-routing loops. This is the real code from AgentDelegateFactory.cs.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Briefly touch on how agent instructions are structured. Key patterns: define the role, set boundaries (what NOT to do), give step-by-step process, specify tool usage, set tone. The Triage agent is a great example — it's state-aware to avoid re-routing loops.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slide. Agent Framework handles the AI layer: LLM abstraction, agent structure, multi-agent orchestration, tool calling. But the tools themselves — doc parsing, data storage — those are separate services. And who manages starting them all, connecting them, deploying them? That's still on you. Transition to MCP.</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Now let's talk about Layer 2 — tools. Agents need to DO things: parse documents, store data, call APIs. Building tools inline means tight coupling. MCP makes tools independent, reusable, and language-agnostic.</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MCP, tools were built inline — methods directly in the agent code. Problems: tightly coupled, not reusable across agents, hard to test independently, can't be maintained by a different team, language-locked. What if parsing docs was someone else's problem?</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MCP is an open protocol (from Anthropic, now widely adopted) that standardizes how agents connect to external tools. Think of it like USB for AI tools — any tool that speaks MCP can be plugged into any agent that speaks MCP. Tools are discovered at runtime, no recompilation needed.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our two MCP servers. MarkItDown is a PYTHON server running in Docker — it parses PDFs, DOCX, web pages into markdown. It's maintained by Microsoft, reusable. InterviewData is a .NET MCP server we built for session storage. Show the [McpServerTool] attribute pattern — that's all it takes.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Recap: MCP handles the tool layer — tools are reusable, language-agnostic, independently deployable. But now you have 5+ services to start and connect. Who manages all of that? Transition to Aspire.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This is the final piece — Layer 3. Aspire is a .NET framework for cloud-native distributed applications. It handles orchestration, service discovery, observability, and deployment. This is where the 'clone and run' magic comes from.</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Paint the picture: you now have Agent, WebUI, 2 MCP servers, SQLite, and an LLM provider. Starting them all in the right order, wiring URLs, checking health, seeing logs — that's a LOT of manual work. docker-compose helps but doesn't give you observability. Kubernetes is overkill for dev. What if there was something built for .NET?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Aspire is .NET's cloud-native framework for distributed applications. Key features: service orchestration, automatic service discovery, built-in OpenTelemetry (logs, traces, metrics), health checks, and deployment to Azure Container Apps. It works for monoliths and microservices alike.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Show the real AppHost.cs code. Walk through each line: MarkItDown container, SQLite database, InterviewData MCP project with reference to SQLite, Agent project with references to MCP servers and LLM, WebUI with reference to Agent. WithReference = service discovery. WaitFor = dependency ordering. This is 32 lines that define the entire application.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what happens when you run `aspire run`: All services start in dependency order. Service discovery kicks in automatically. The Aspire Dashboard opens showing all services. From git clone to fully running app in minutes. This is the 'clone and run' promise from the abstract.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the Aspire Dashboard. It shows all services with health status, real-time structured logs, distributed traces across the entire call chain (user → WebUI → Agent → LLM + MCP calls), and metrics. All of this is automatic — OpenTelemetry is built into ServiceDefaults. You don't configure any of it.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same AppHost that runs locally also defines the deployment target. `azd up` provisions Azure Container Apps, deploys all services, wires up networking. No Dockerfiles (for .NET projects), no Kubernetes YAML, no manual infra. One command to production. And `azd down --force --purge` cleans everything up.</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 recap before demo. All three layers are now solved. Agent Framework for AI, MCP for tools, Aspire for everything else. The full picture is complete.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to the live demo. You have 3 segments: (1) Clone and run the app, show the dashboard, walk through an interview. (2) Show multi-agent handoffs in Aspire traces. (3) Swap LLM provider and show extensibility.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TALKING POINTS:</a:t>
            </a:r>
          </a:p>
          <a:p>
            <a:r>
              <a:t>1. Show the repo on GitHub briefly</a:t>
            </a:r>
          </a:p>
          <a:p>
            <a:r>
              <a:t>2. Run `aspire run --file ./apphost.cs`</a:t>
            </a:r>
          </a:p>
          <a:p>
            <a:r>
              <a:t>3. Show Aspire Dashboard — all services starting up, dependencies resolving</a:t>
            </a:r>
          </a:p>
          <a:p>
            <a:r>
              <a:t>4. Wait for all green checkmarks</a:t>
            </a:r>
          </a:p>
          <a:p>
            <a:r>
              <a:t>5. Click the webui endpoint to open the chat</a:t>
            </a:r>
          </a:p>
          <a:p>
            <a:r>
              <a:t>6. Walk through a complete interview:</a:t>
            </a:r>
          </a:p>
          <a:p>
            <a:r>
              <a:t>   - Greet the coach (session created, show session ID)</a:t>
            </a:r>
          </a:p>
          <a:p>
            <a:r>
              <a:t>   - Paste a sample resume link</a:t>
            </a:r>
          </a:p>
          <a:p>
            <a:r>
              <a:t>   - Paste a sample job description</a:t>
            </a:r>
          </a:p>
          <a:p>
            <a:r>
              <a:t>   - Answer 2-3 behavioral questions</a:t>
            </a:r>
          </a:p>
          <a:p>
            <a:r>
              <a:t>   - Answer 1-2 technical questions</a:t>
            </a:r>
          </a:p>
          <a:p>
            <a:r>
              <a:t>   - Ask for summary</a:t>
            </a:r>
          </a:p>
          <a:p>
            <a:r>
              <a:t>7. While chatting, switch to Aspire Dashboard and show:</a:t>
            </a:r>
          </a:p>
          <a:p>
            <a:r>
              <a:t>   - Distributed traces: WebUI → Agent → LLM, Agent → MCP calls</a:t>
            </a:r>
          </a:p>
          <a:p>
            <a:r>
              <a:t>   - Structured logs from each service</a:t>
            </a:r>
          </a:p>
          <a:p>
            <a:r>
              <a:t>   - MCP tool calls (add_interview_session, convert_to_markdown)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TALKING POINTS:</a:t>
            </a:r>
          </a:p>
          <a:p>
            <a:r>
              <a:t>1. Show agent handoffs in Aspire traces — you can see Triage → Receptionist → Behavioural</a:t>
            </a:r>
          </a:p>
          <a:p>
            <a:r>
              <a:t>2. Point out how each agent has different tools available</a:t>
            </a:r>
          </a:p>
          <a:p>
            <a:r>
              <a:t>3. Show the AgentMode config: switch between Single and LlmHandOff</a:t>
            </a:r>
          </a:p>
          <a:p>
            <a:r>
              <a:t>4. If time: restart in Single mode, show the difference in traces (one agent doing everything)</a:t>
            </a:r>
          </a:p>
          <a:p>
            <a:r>
              <a:t>5. Explain the trade-offs: Single is simpler, LlmHandOff is more maintainable at scale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DEMO TALKING POINTS:</a:t>
            </a:r>
          </a:p>
          <a:p>
            <a:r>
              <a:t>1. Switch LLM provider via CLI flag: aspire run -- --provider GitHubModels</a:t>
            </a:r>
          </a:p>
          <a:p>
            <a:r>
              <a:t>2. Show it still works — same agents, same tools, different LLM</a:t>
            </a:r>
          </a:p>
          <a:p>
            <a:r>
              <a:t>3. Briefly show how you'd add a new MCP server:</a:t>
            </a:r>
          </a:p>
          <a:p>
            <a:r>
              <a:t>   - Create project, add [McpServerTool], register in AppHost</a:t>
            </a:r>
          </a:p>
          <a:p>
            <a:r>
              <a:t>   - The agent discovers the new tools at startup</a:t>
            </a:r>
          </a:p>
          <a:p>
            <a:r>
              <a:t>4. Emphasize: the system is designed for change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 architecture diagram and label each layer of simplification. Agent Framework handles the AI layer, MCP handles the tool layer, Aspire handles the infrastructure layer. Together, they compose into a system you can clone, run, and deploy.</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things to remember from this talk. These are the patterns that apply beyond Interview Coach — to any agent application you build.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people to the repo and documentation. Mention the 5 tutorials in the repo for hands-on learning. The repo has everything: architecture docs, provider guides, FAQ.</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the audience. Open the floor for Q&amp;A.</a:t>
            </a:r>
          </a:p>
          <a:p>
            <a:endParaRPr/>
          </a:p>
          <a:p>
            <a:r>
              <a:t>Remind them: the repo is fully documented with tutorials, architecture guides, and provider setup instructions. They can clone it and start building today.</a:t>
            </a:r>
          </a:p>
          <a:p>
            <a:endParaRPr/>
          </a:p>
          <a:p>
            <a:r>
              <a:t>If no questions, mention: the repo has a FAQ that covers common questions about Agent Framework vs Semantic Kernel, MCP vs inline tools, deployment options, etc.</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2743200"/>
            <a:ext cx="3657600" cy="7315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71600"/>
            <a:ext cx="10515600" cy="1463040"/>
          </a:xfrm>
          <a:prstGeom prst="rect">
            <a:avLst/>
          </a:prstGeom>
          <a:noFill/>
        </p:spPr>
        <p:txBody>
          <a:bodyPr wrap="square">
            <a:spAutoFit/>
          </a:bodyPr>
          <a:lstStyle/>
          <a:p>
            <a:pPr algn="l">
              <a:defRPr sz="4800" b="1">
                <a:solidFill>
                  <a:srgbClr val="FFFFFF"/>
                </a:solidFill>
                <a:latin typeface="Segoe UI"/>
              </a:defRPr>
            </a:pPr>
            <a:r>
              <a:t>Simplifying Agentic Applications</a:t>
            </a:r>
          </a:p>
          <a:p>
            <a:pPr algn="l">
              <a:spcBef>
                <a:spcPts val="0"/>
              </a:spcBef>
              <a:spcAft>
                <a:spcPts val="200"/>
              </a:spcAft>
              <a:defRPr sz="4000" b="1">
                <a:solidFill>
                  <a:srgbClr val="00BCD4"/>
                </a:solidFill>
                <a:latin typeface="Segoe UI"/>
              </a:defRPr>
            </a:pPr>
            <a:r>
              <a:t>with Aspire and Agent Framework</a:t>
            </a:r>
          </a:p>
        </p:txBody>
      </p:sp>
      <p:sp>
        <p:nvSpPr>
          <p:cNvPr id="4" name="TextBox 3"/>
          <p:cNvSpPr txBox="1"/>
          <p:nvPr/>
        </p:nvSpPr>
        <p:spPr>
          <a:xfrm>
            <a:off x="731520" y="3200400"/>
            <a:ext cx="10515600" cy="1463040"/>
          </a:xfrm>
          <a:prstGeom prst="rect">
            <a:avLst/>
          </a:prstGeom>
          <a:noFill/>
        </p:spPr>
        <p:txBody>
          <a:bodyPr wrap="square">
            <a:spAutoFit/>
          </a:bodyPr>
          <a:lstStyle/>
          <a:p>
            <a:pPr algn="l">
              <a:defRPr sz="2400" b="0">
                <a:solidFill>
                  <a:srgbClr val="CCCCCC"/>
                </a:solidFill>
                <a:latin typeface="Segoe UI"/>
              </a:defRPr>
            </a:pPr>
            <a:r>
              <a:t>NDC Sydney 2026</a:t>
            </a:r>
          </a:p>
          <a:p>
            <a:pPr algn="l">
              <a:spcBef>
                <a:spcPts val="600"/>
              </a:spcBef>
              <a:spcAft>
                <a:spcPts val="200"/>
              </a:spcAft>
              <a:defRPr sz="2000" b="0">
                <a:solidFill>
                  <a:srgbClr val="CCCCCC"/>
                </a:solidFill>
                <a:latin typeface="Segoe UI"/>
              </a:defRPr>
            </a:pPr>
            <a:r>
              <a:t>[Speaker Name]</a:t>
            </a:r>
          </a:p>
          <a:p>
            <a:pPr algn="l">
              <a:spcBef>
                <a:spcPts val="600"/>
              </a:spcBef>
              <a:spcAft>
                <a:spcPts val="200"/>
              </a:spcAft>
              <a:defRPr sz="1600" b="0">
                <a:solidFill>
                  <a:srgbClr val="4FC3F7"/>
                </a:solidFill>
                <a:latin typeface="Segoe UI"/>
              </a:defRPr>
            </a:pPr>
            <a:r>
              <a:t>@handle  •  github.com/Azure-Samples/interview-coach-agent-framework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The Promise of AI Agents</a:t>
            </a:r>
          </a:p>
        </p:txBody>
      </p:sp>
      <p:sp>
        <p:nvSpPr>
          <p:cNvPr id="4" name="TextBox 3"/>
          <p:cNvSpPr txBox="1"/>
          <p:nvPr/>
        </p:nvSpPr>
        <p:spPr>
          <a:xfrm>
            <a:off x="731520" y="1371600"/>
            <a:ext cx="10515600" cy="4572000"/>
          </a:xfrm>
          <a:prstGeom prst="rect">
            <a:avLst/>
          </a:prstGeom>
          <a:noFill/>
        </p:spPr>
        <p:txBody>
          <a:bodyPr wrap="square">
            <a:spAutoFit/>
          </a:bodyPr>
          <a:lstStyle/>
          <a:p>
            <a:pPr algn="l">
              <a:defRPr sz="2800" b="1">
                <a:solidFill>
                  <a:srgbClr val="FFFFFF"/>
                </a:solidFill>
                <a:latin typeface="Segoe UI"/>
              </a:defRPr>
            </a:pPr>
            <a:r>
              <a:rPr dirty="0"/>
              <a:t>Agents that think, act, and collaborate</a:t>
            </a:r>
          </a:p>
          <a:p>
            <a:pPr>
              <a:spcBef>
                <a:spcPts val="400"/>
              </a:spcBef>
              <a:spcAft>
                <a:spcPts val="200"/>
              </a:spcAft>
              <a:defRPr sz="2200" b="0">
                <a:solidFill>
                  <a:srgbClr val="CCCCCC"/>
                </a:solidFill>
                <a:latin typeface="Segoe UI"/>
              </a:defRPr>
            </a:pPr>
            <a:r>
              <a:rPr dirty="0"/>
              <a:t>🧠  Reason about problems and break them into steps</a:t>
            </a:r>
          </a:p>
          <a:p>
            <a:pPr>
              <a:spcBef>
                <a:spcPts val="400"/>
              </a:spcBef>
              <a:spcAft>
                <a:spcPts val="200"/>
              </a:spcAft>
              <a:defRPr sz="2200" b="0">
                <a:solidFill>
                  <a:srgbClr val="CCCCCC"/>
                </a:solidFill>
                <a:latin typeface="Segoe UI"/>
              </a:defRPr>
            </a:pPr>
            <a:r>
              <a:rPr dirty="0"/>
              <a:t>🔧  Use tools — parse documents, query databases, call APIs</a:t>
            </a:r>
          </a:p>
          <a:p>
            <a:pPr>
              <a:spcBef>
                <a:spcPts val="400"/>
              </a:spcBef>
              <a:spcAft>
                <a:spcPts val="200"/>
              </a:spcAft>
              <a:defRPr sz="2200" b="0">
                <a:solidFill>
                  <a:srgbClr val="CCCCCC"/>
                </a:solidFill>
                <a:latin typeface="Segoe UI"/>
              </a:defRPr>
            </a:pPr>
            <a:r>
              <a:rPr dirty="0"/>
              <a:t>🤝  Collaborate — specialized agents hand off to each other</a:t>
            </a:r>
          </a:p>
          <a:p>
            <a:pPr>
              <a:spcBef>
                <a:spcPts val="400"/>
              </a:spcBef>
              <a:spcAft>
                <a:spcPts val="200"/>
              </a:spcAft>
              <a:defRPr sz="2200" b="0">
                <a:solidFill>
                  <a:srgbClr val="CCCCCC"/>
                </a:solidFill>
                <a:latin typeface="Segoe UI"/>
              </a:defRPr>
            </a:pPr>
            <a:r>
              <a:rPr dirty="0"/>
              <a:t>📦  Deploy — run in production with observability and scaling</a:t>
            </a:r>
          </a:p>
          <a:p>
            <a:pPr algn="l">
              <a:spcBef>
                <a:spcPts val="600"/>
              </a:spcBef>
              <a:spcAft>
                <a:spcPts val="200"/>
              </a:spcAft>
              <a:defRPr sz="1200" b="0">
                <a:solidFill>
                  <a:srgbClr val="FFFFFF"/>
                </a:solidFill>
                <a:latin typeface="Segoe UI"/>
              </a:defRPr>
            </a:pPr>
            <a:endParaRPr dirty="0"/>
          </a:p>
          <a:p>
            <a:pPr algn="l">
              <a:spcBef>
                <a:spcPts val="2000"/>
              </a:spcBef>
              <a:spcAft>
                <a:spcPts val="200"/>
              </a:spcAft>
              <a:defRPr sz="2400" b="1">
                <a:solidFill>
                  <a:srgbClr val="FFD54F"/>
                </a:solidFill>
                <a:latin typeface="Segoe UI"/>
              </a:defRPr>
            </a:pPr>
            <a:r>
              <a:rPr dirty="0"/>
              <a:t>Sounds great. But what does it actually take to build this?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The Reality: It's a Distributed System</a:t>
            </a:r>
          </a:p>
        </p:txBody>
      </p:sp>
      <p:sp>
        <p:nvSpPr>
          <p:cNvPr id="4" name="TextBox 3"/>
          <p:cNvSpPr txBox="1"/>
          <p:nvPr/>
        </p:nvSpPr>
        <p:spPr>
          <a:xfrm>
            <a:off x="731520" y="1371600"/>
            <a:ext cx="5029200" cy="5029200"/>
          </a:xfrm>
          <a:prstGeom prst="rect">
            <a:avLst/>
          </a:prstGeom>
          <a:noFill/>
        </p:spPr>
        <p:txBody>
          <a:bodyPr wrap="square">
            <a:spAutoFit/>
          </a:bodyPr>
          <a:lstStyle/>
          <a:p>
            <a:pPr algn="l">
              <a:defRPr sz="2400" b="1">
                <a:solidFill>
                  <a:srgbClr val="FFFFFF"/>
                </a:solidFill>
                <a:latin typeface="Segoe UI"/>
              </a:defRPr>
            </a:pPr>
            <a:r>
              <a:t>Everything you actually need:</a:t>
            </a:r>
          </a:p>
          <a:p>
            <a:pPr>
              <a:spcBef>
                <a:spcPts val="400"/>
              </a:spcBef>
              <a:spcAft>
                <a:spcPts val="200"/>
              </a:spcAft>
              <a:defRPr sz="1800" b="0">
                <a:solidFill>
                  <a:srgbClr val="CCCCCC"/>
                </a:solidFill>
                <a:latin typeface="Segoe UI"/>
              </a:defRPr>
            </a:pPr>
            <a:r>
              <a:t>☁️  LLM provider (which one? how to swap?)</a:t>
            </a:r>
          </a:p>
          <a:p>
            <a:pPr>
              <a:spcBef>
                <a:spcPts val="400"/>
              </a:spcBef>
              <a:spcAft>
                <a:spcPts val="200"/>
              </a:spcAft>
              <a:defRPr sz="1800" b="0">
                <a:solidFill>
                  <a:srgbClr val="CCCCCC"/>
                </a:solidFill>
                <a:latin typeface="Segoe UI"/>
              </a:defRPr>
            </a:pPr>
            <a:r>
              <a:t>🤖  Agent runtime (instructions, tools, state)</a:t>
            </a:r>
          </a:p>
          <a:p>
            <a:pPr>
              <a:spcBef>
                <a:spcPts val="400"/>
              </a:spcBef>
              <a:spcAft>
                <a:spcPts val="200"/>
              </a:spcAft>
              <a:defRPr sz="1800" b="0">
                <a:solidFill>
                  <a:srgbClr val="CCCCCC"/>
                </a:solidFill>
                <a:latin typeface="Segoe UI"/>
              </a:defRPr>
            </a:pPr>
            <a:r>
              <a:t>🔧  Tool servers (doc parsing, data storage)</a:t>
            </a:r>
          </a:p>
          <a:p>
            <a:pPr>
              <a:spcBef>
                <a:spcPts val="400"/>
              </a:spcBef>
              <a:spcAft>
                <a:spcPts val="200"/>
              </a:spcAft>
              <a:defRPr sz="1800" b="0">
                <a:solidFill>
                  <a:srgbClr val="CCCCCC"/>
                </a:solidFill>
                <a:latin typeface="Segoe UI"/>
              </a:defRPr>
            </a:pPr>
            <a:r>
              <a:t>💾  Database (session persistence)</a:t>
            </a:r>
          </a:p>
          <a:p>
            <a:pPr>
              <a:spcBef>
                <a:spcPts val="400"/>
              </a:spcBef>
              <a:spcAft>
                <a:spcPts val="200"/>
              </a:spcAft>
              <a:defRPr sz="1800" b="0">
                <a:solidFill>
                  <a:srgbClr val="CCCCCC"/>
                </a:solidFill>
                <a:latin typeface="Segoe UI"/>
              </a:defRPr>
            </a:pPr>
            <a:r>
              <a:t>🖥️  Web UI (chat interface)</a:t>
            </a:r>
          </a:p>
          <a:p>
            <a:pPr>
              <a:spcBef>
                <a:spcPts val="400"/>
              </a:spcBef>
              <a:spcAft>
                <a:spcPts val="200"/>
              </a:spcAft>
              <a:defRPr sz="1800" b="0">
                <a:solidFill>
                  <a:srgbClr val="CCCCCC"/>
                </a:solidFill>
                <a:latin typeface="Segoe UI"/>
              </a:defRPr>
            </a:pPr>
            <a:r>
              <a:t>🔗  Service discovery (who talks to who?)</a:t>
            </a:r>
          </a:p>
          <a:p>
            <a:pPr>
              <a:spcBef>
                <a:spcPts val="400"/>
              </a:spcBef>
              <a:spcAft>
                <a:spcPts val="200"/>
              </a:spcAft>
              <a:defRPr sz="1800" b="0">
                <a:solidFill>
                  <a:srgbClr val="CCCCCC"/>
                </a:solidFill>
                <a:latin typeface="Segoe UI"/>
              </a:defRPr>
            </a:pPr>
            <a:r>
              <a:t>📊  Observability (logs, traces, metrics)</a:t>
            </a:r>
          </a:p>
          <a:p>
            <a:pPr>
              <a:spcBef>
                <a:spcPts val="400"/>
              </a:spcBef>
              <a:spcAft>
                <a:spcPts val="200"/>
              </a:spcAft>
              <a:defRPr sz="1800" b="0">
                <a:solidFill>
                  <a:srgbClr val="CCCCCC"/>
                </a:solidFill>
                <a:latin typeface="Segoe UI"/>
              </a:defRPr>
            </a:pPr>
            <a:r>
              <a:t>🏥  Health checks (is everything running?)</a:t>
            </a:r>
          </a:p>
          <a:p>
            <a:pPr>
              <a:spcBef>
                <a:spcPts val="400"/>
              </a:spcBef>
              <a:spcAft>
                <a:spcPts val="200"/>
              </a:spcAft>
              <a:defRPr sz="1800" b="0">
                <a:solidFill>
                  <a:srgbClr val="CCCCCC"/>
                </a:solidFill>
                <a:latin typeface="Segoe UI"/>
              </a:defRPr>
            </a:pPr>
            <a:r>
              <a:t>🔐  Configuration &amp; secrets</a:t>
            </a:r>
          </a:p>
          <a:p>
            <a:pPr>
              <a:spcBef>
                <a:spcPts val="400"/>
              </a:spcBef>
              <a:spcAft>
                <a:spcPts val="200"/>
              </a:spcAft>
              <a:defRPr sz="1800" b="0">
                <a:solidFill>
                  <a:srgbClr val="CCCCCC"/>
                </a:solidFill>
                <a:latin typeface="Segoe UI"/>
              </a:defRPr>
            </a:pPr>
            <a:r>
              <a:t>🚀  Deployment to production</a:t>
            </a:r>
          </a:p>
        </p:txBody>
      </p:sp>
      <p:sp>
        <p:nvSpPr>
          <p:cNvPr id="5" name="TextBox 4"/>
          <p:cNvSpPr txBox="1"/>
          <p:nvPr/>
        </p:nvSpPr>
        <p:spPr>
          <a:xfrm>
            <a:off x="6217920" y="1645920"/>
            <a:ext cx="5029200" cy="4114800"/>
          </a:xfrm>
          <a:prstGeom prst="rect">
            <a:avLst/>
          </a:prstGeom>
          <a:noFill/>
        </p:spPr>
        <p:txBody>
          <a:bodyPr wrap="square">
            <a:spAutoFit/>
          </a:bodyPr>
          <a:lstStyle/>
          <a:p>
            <a:pPr algn="l">
              <a:defRPr sz="2800" b="1">
                <a:solidFill>
                  <a:srgbClr val="FFD54F"/>
                </a:solidFill>
                <a:latin typeface="Segoe UI"/>
              </a:defRPr>
            </a:pPr>
            <a:r>
              <a:t>That's 10+ concerns before</a:t>
            </a:r>
            <a:br/>
            <a:r>
              <a:t>you write your first prompt.</a:t>
            </a:r>
          </a:p>
          <a:p>
            <a:pPr algn="l">
              <a:spcBef>
                <a:spcPts val="2000"/>
              </a:spcBef>
              <a:spcAft>
                <a:spcPts val="200"/>
              </a:spcAft>
              <a:defRPr sz="2000" b="0">
                <a:solidFill>
                  <a:srgbClr val="CCCCCC"/>
                </a:solidFill>
                <a:latin typeface="Segoe UI"/>
              </a:defRPr>
            </a:pPr>
            <a:r>
              <a:t>Each one is a service to configure,</a:t>
            </a:r>
            <a:br/>
            <a:r>
              <a:t>connect, monitor, and deploy.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Three Layers of Complexity</a:t>
            </a:r>
          </a:p>
        </p:txBody>
      </p:sp>
      <p:sp>
        <p:nvSpPr>
          <p:cNvPr id="4" name="Rounded Rectangle 3"/>
          <p:cNvSpPr/>
          <p:nvPr/>
        </p:nvSpPr>
        <p:spPr>
          <a:xfrm>
            <a:off x="731520" y="1645920"/>
            <a:ext cx="3200400" cy="3657600"/>
          </a:xfrm>
          <a:prstGeom prst="roundRect">
            <a:avLst/>
          </a:prstGeom>
          <a:solidFill>
            <a:srgbClr val="22223A"/>
          </a:solidFill>
          <a:ln w="25400">
            <a:solidFill>
              <a:srgbClr val="00BCD4"/>
            </a:solidFill>
          </a:ln>
        </p:spPr>
        <p:style>
          <a:lnRef idx="1">
            <a:schemeClr val="accent1"/>
          </a:lnRef>
          <a:fillRef idx="3">
            <a:schemeClr val="accent1"/>
          </a:fillRef>
          <a:effectRef idx="2">
            <a:schemeClr val="accent1"/>
          </a:effectRef>
          <a:fontRef idx="minor">
            <a:schemeClr val="lt1"/>
          </a:fontRef>
        </p:style>
        <p:txBody>
          <a:bodyPr wrap="square" lIns="182880" tIns="274320" rtlCol="0" anchor="ctr"/>
          <a:lstStyle/>
          <a:p>
            <a:pPr algn="ctr">
              <a:defRPr sz="2200" b="1">
                <a:solidFill>
                  <a:srgbClr val="00BCD4"/>
                </a:solidFill>
                <a:latin typeface="Segoe UI"/>
              </a:defRPr>
            </a:pPr>
            <a:r>
              <a:t>Layer 1: AI / LLM</a:t>
            </a:r>
          </a:p>
          <a:p>
            <a:pPr algn="ctr">
              <a:spcBef>
                <a:spcPts val="1600"/>
              </a:spcBef>
              <a:spcAft>
                <a:spcPts val="200"/>
              </a:spcAft>
              <a:defRPr sz="1600" b="0">
                <a:solidFill>
                  <a:srgbClr val="CCCCCC"/>
                </a:solidFill>
                <a:latin typeface="Segoe UI"/>
              </a:defRPr>
            </a:pPr>
            <a:r>
              <a:t>Which model? How to call it?</a:t>
            </a:r>
            <a:br/>
            <a:r>
              <a:t>Multi-agent orchestration?</a:t>
            </a:r>
            <a:br/>
            <a:r>
              <a:t>Tool calling protocol?</a:t>
            </a:r>
          </a:p>
        </p:txBody>
      </p:sp>
      <p:sp>
        <p:nvSpPr>
          <p:cNvPr id="5" name="Rounded Rectangle 4"/>
          <p:cNvSpPr/>
          <p:nvPr/>
        </p:nvSpPr>
        <p:spPr>
          <a:xfrm>
            <a:off x="4389120" y="1645920"/>
            <a:ext cx="3200400" cy="3657600"/>
          </a:xfrm>
          <a:prstGeom prst="roundRect">
            <a:avLst/>
          </a:prstGeom>
          <a:solidFill>
            <a:srgbClr val="22223A"/>
          </a:solidFill>
          <a:ln w="25400">
            <a:solidFill>
              <a:srgbClr val="4FC3F7"/>
            </a:solidFill>
          </a:ln>
        </p:spPr>
        <p:style>
          <a:lnRef idx="1">
            <a:schemeClr val="accent1"/>
          </a:lnRef>
          <a:fillRef idx="3">
            <a:schemeClr val="accent1"/>
          </a:fillRef>
          <a:effectRef idx="2">
            <a:schemeClr val="accent1"/>
          </a:effectRef>
          <a:fontRef idx="minor">
            <a:schemeClr val="lt1"/>
          </a:fontRef>
        </p:style>
        <p:txBody>
          <a:bodyPr wrap="square" lIns="182880" tIns="274320" rtlCol="0" anchor="ctr"/>
          <a:lstStyle/>
          <a:p>
            <a:pPr algn="ctr">
              <a:defRPr sz="2200" b="1">
                <a:solidFill>
                  <a:srgbClr val="4FC3F7"/>
                </a:solidFill>
                <a:latin typeface="Segoe UI"/>
              </a:defRPr>
            </a:pPr>
            <a:r>
              <a:t>Layer 2: Tools</a:t>
            </a:r>
          </a:p>
          <a:p>
            <a:pPr algn="ctr">
              <a:spcBef>
                <a:spcPts val="1600"/>
              </a:spcBef>
              <a:spcAft>
                <a:spcPts val="200"/>
              </a:spcAft>
              <a:defRPr sz="1600" b="0">
                <a:solidFill>
                  <a:srgbClr val="CCCCCC"/>
                </a:solidFill>
                <a:latin typeface="Segoe UI"/>
              </a:defRPr>
            </a:pPr>
            <a:r>
              <a:t>Document parsing, storage,</a:t>
            </a:r>
            <a:br/>
            <a:r>
              <a:t>external APIs — how to build,</a:t>
            </a:r>
            <a:br/>
            <a:r>
              <a:t>deploy, and reuse them?</a:t>
            </a:r>
          </a:p>
        </p:txBody>
      </p:sp>
      <p:sp>
        <p:nvSpPr>
          <p:cNvPr id="6" name="Rounded Rectangle 5"/>
          <p:cNvSpPr/>
          <p:nvPr/>
        </p:nvSpPr>
        <p:spPr>
          <a:xfrm>
            <a:off x="8046720" y="1645920"/>
            <a:ext cx="3200400" cy="3657600"/>
          </a:xfrm>
          <a:prstGeom prst="roundRect">
            <a:avLst/>
          </a:prstGeom>
          <a:solidFill>
            <a:srgbClr val="22223A"/>
          </a:solidFill>
          <a:ln w="25400">
            <a:solidFill>
              <a:srgbClr val="FFD54F"/>
            </a:solidFill>
          </a:ln>
        </p:spPr>
        <p:style>
          <a:lnRef idx="1">
            <a:schemeClr val="accent1"/>
          </a:lnRef>
          <a:fillRef idx="3">
            <a:schemeClr val="accent1"/>
          </a:fillRef>
          <a:effectRef idx="2">
            <a:schemeClr val="accent1"/>
          </a:effectRef>
          <a:fontRef idx="minor">
            <a:schemeClr val="lt1"/>
          </a:fontRef>
        </p:style>
        <p:txBody>
          <a:bodyPr wrap="square" lIns="182880" tIns="274320" rtlCol="0" anchor="ctr"/>
          <a:lstStyle/>
          <a:p>
            <a:pPr algn="ctr">
              <a:defRPr sz="2200" b="1">
                <a:solidFill>
                  <a:srgbClr val="FFD54F"/>
                </a:solidFill>
                <a:latin typeface="Segoe UI"/>
              </a:defRPr>
            </a:pPr>
            <a:r>
              <a:t>Layer 3: Infrastructure</a:t>
            </a:r>
          </a:p>
          <a:p>
            <a:pPr algn="ctr">
              <a:spcBef>
                <a:spcPts val="1600"/>
              </a:spcBef>
              <a:spcAft>
                <a:spcPts val="200"/>
              </a:spcAft>
              <a:defRPr sz="1600" b="0">
                <a:solidFill>
                  <a:srgbClr val="CCCCCC"/>
                </a:solidFill>
                <a:latin typeface="Segoe UI"/>
              </a:defRPr>
            </a:pPr>
            <a:r>
              <a:t>Service discovery, health,</a:t>
            </a:r>
            <a:br/>
            <a:r>
              <a:t>observability, config,</a:t>
            </a:r>
            <a:br/>
            <a:r>
              <a:t>deployment to production?</a:t>
            </a:r>
          </a:p>
        </p:txBody>
      </p:sp>
      <p:sp>
        <p:nvSpPr>
          <p:cNvPr id="7" name="TextBox 6"/>
          <p:cNvSpPr txBox="1"/>
          <p:nvPr/>
        </p:nvSpPr>
        <p:spPr>
          <a:xfrm>
            <a:off x="731520" y="5486400"/>
            <a:ext cx="3200400" cy="457200"/>
          </a:xfrm>
          <a:prstGeom prst="rect">
            <a:avLst/>
          </a:prstGeom>
          <a:noFill/>
        </p:spPr>
        <p:txBody>
          <a:bodyPr wrap="square">
            <a:spAutoFit/>
          </a:bodyPr>
          <a:lstStyle/>
          <a:p>
            <a:pPr algn="ctr">
              <a:defRPr sz="1800" b="1">
                <a:solidFill>
                  <a:srgbClr val="00BCD4"/>
                </a:solidFill>
                <a:latin typeface="Segoe UI"/>
              </a:defRPr>
            </a:pPr>
            <a:r>
              <a:t>→ Agent Framework</a:t>
            </a:r>
          </a:p>
        </p:txBody>
      </p:sp>
      <p:sp>
        <p:nvSpPr>
          <p:cNvPr id="8" name="TextBox 7"/>
          <p:cNvSpPr txBox="1"/>
          <p:nvPr/>
        </p:nvSpPr>
        <p:spPr>
          <a:xfrm>
            <a:off x="4389120" y="5486400"/>
            <a:ext cx="3200400" cy="457200"/>
          </a:xfrm>
          <a:prstGeom prst="rect">
            <a:avLst/>
          </a:prstGeom>
          <a:noFill/>
        </p:spPr>
        <p:txBody>
          <a:bodyPr wrap="square">
            <a:spAutoFit/>
          </a:bodyPr>
          <a:lstStyle/>
          <a:p>
            <a:pPr algn="ctr">
              <a:defRPr sz="1800" b="1">
                <a:solidFill>
                  <a:srgbClr val="4FC3F7"/>
                </a:solidFill>
                <a:latin typeface="Segoe UI"/>
              </a:defRPr>
            </a:pPr>
            <a:r>
              <a:t>→ Model Context Protocol</a:t>
            </a:r>
          </a:p>
        </p:txBody>
      </p:sp>
      <p:sp>
        <p:nvSpPr>
          <p:cNvPr id="9" name="TextBox 8"/>
          <p:cNvSpPr txBox="1"/>
          <p:nvPr/>
        </p:nvSpPr>
        <p:spPr>
          <a:xfrm>
            <a:off x="8046720" y="5486400"/>
            <a:ext cx="3200400" cy="369332"/>
          </a:xfrm>
          <a:prstGeom prst="rect">
            <a:avLst/>
          </a:prstGeom>
          <a:noFill/>
        </p:spPr>
        <p:txBody>
          <a:bodyPr wrap="square">
            <a:spAutoFit/>
          </a:bodyPr>
          <a:lstStyle/>
          <a:p>
            <a:pPr algn="ctr">
              <a:defRPr sz="1800" b="1">
                <a:solidFill>
                  <a:srgbClr val="FFD54F"/>
                </a:solidFill>
                <a:latin typeface="Segoe UI"/>
              </a:defRPr>
            </a:pPr>
            <a:r>
              <a:rPr dirty="0"/>
              <a:t>→ Aspire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What If It Were Simple?</a:t>
            </a:r>
          </a:p>
        </p:txBody>
      </p:sp>
      <p:sp>
        <p:nvSpPr>
          <p:cNvPr id="4" name="TextBox 3"/>
          <p:cNvSpPr txBox="1"/>
          <p:nvPr/>
        </p:nvSpPr>
        <p:spPr>
          <a:xfrm>
            <a:off x="731520" y="1645920"/>
            <a:ext cx="10515600" cy="4114800"/>
          </a:xfrm>
          <a:prstGeom prst="rect">
            <a:avLst/>
          </a:prstGeom>
          <a:noFill/>
        </p:spPr>
        <p:txBody>
          <a:bodyPr wrap="square">
            <a:spAutoFit/>
          </a:bodyPr>
          <a:lstStyle/>
          <a:p>
            <a:pPr algn="l">
              <a:defRPr sz="2800" b="1">
                <a:solidFill>
                  <a:srgbClr val="FFFFFF"/>
                </a:solidFill>
                <a:latin typeface="Segoe UI"/>
              </a:defRPr>
            </a:pPr>
            <a:r>
              <a:t>The dream:</a:t>
            </a:r>
          </a:p>
        </p:txBody>
      </p:sp>
      <p:sp>
        <p:nvSpPr>
          <p:cNvPr id="5" name="Rounded Rectangle 4"/>
          <p:cNvSpPr/>
          <p:nvPr/>
        </p:nvSpPr>
        <p:spPr>
          <a:xfrm>
            <a:off x="1097280" y="2560320"/>
            <a:ext cx="9144000" cy="228600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rtlCol="0" anchor="ctr"/>
          <a:lstStyle/>
          <a:p>
            <a:pPr>
              <a:spcBef>
                <a:spcPts val="0"/>
              </a:spcBef>
              <a:spcAft>
                <a:spcPts val="0"/>
              </a:spcAft>
              <a:defRPr sz="1600">
                <a:solidFill>
                  <a:srgbClr val="E0E0E0"/>
                </a:solidFill>
                <a:latin typeface="Cascadia Code"/>
              </a:defRPr>
            </a:pPr>
            <a:r>
              <a:rPr dirty="0"/>
              <a:t>git clone https://github.com/Azure-Samples/interview-coach-agent-framework</a:t>
            </a:r>
          </a:p>
          <a:p>
            <a:pPr>
              <a:spcBef>
                <a:spcPts val="0"/>
              </a:spcBef>
              <a:spcAft>
                <a:spcPts val="0"/>
              </a:spcAft>
              <a:defRPr sz="1600">
                <a:solidFill>
                  <a:srgbClr val="E0E0E0"/>
                </a:solidFill>
                <a:latin typeface="Cascadia Code"/>
              </a:defRPr>
            </a:pPr>
            <a:r>
              <a:rPr dirty="0"/>
              <a:t>cd interview-coach-agent-framework</a:t>
            </a:r>
          </a:p>
          <a:p>
            <a:pPr>
              <a:spcBef>
                <a:spcPts val="0"/>
              </a:spcBef>
              <a:spcAft>
                <a:spcPts val="0"/>
              </a:spcAft>
              <a:defRPr sz="1600">
                <a:solidFill>
                  <a:srgbClr val="E0E0E0"/>
                </a:solidFill>
                <a:latin typeface="Cascadia Code"/>
              </a:defRPr>
            </a:pPr>
            <a:endParaRPr dirty="0"/>
          </a:p>
          <a:p>
            <a:pPr>
              <a:spcBef>
                <a:spcPts val="0"/>
              </a:spcBef>
              <a:spcAft>
                <a:spcPts val="0"/>
              </a:spcAft>
              <a:defRPr sz="1600">
                <a:solidFill>
                  <a:srgbClr val="E0E0E0"/>
                </a:solidFill>
                <a:latin typeface="Cascadia Code"/>
              </a:defRPr>
            </a:pPr>
            <a:r>
              <a:rPr dirty="0"/>
              <a:t># Configure secrets, then:</a:t>
            </a:r>
          </a:p>
          <a:p>
            <a:pPr>
              <a:spcBef>
                <a:spcPts val="0"/>
              </a:spcBef>
              <a:spcAft>
                <a:spcPts val="0"/>
              </a:spcAft>
              <a:defRPr sz="1600">
                <a:solidFill>
                  <a:srgbClr val="E0E0E0"/>
                </a:solidFill>
                <a:latin typeface="Cascadia Code"/>
              </a:defRPr>
            </a:pPr>
            <a:r>
              <a:rPr dirty="0"/>
              <a:t>aspire run --file ./</a:t>
            </a:r>
            <a:r>
              <a:rPr dirty="0" err="1"/>
              <a:t>apphost.cs</a:t>
            </a:r>
            <a:r>
              <a:rPr dirty="0"/>
              <a:t>          # ← fully working dev environment</a:t>
            </a:r>
          </a:p>
          <a:p>
            <a:pPr>
              <a:spcBef>
                <a:spcPts val="0"/>
              </a:spcBef>
              <a:spcAft>
                <a:spcPts val="0"/>
              </a:spcAft>
              <a:defRPr sz="1600">
                <a:solidFill>
                  <a:srgbClr val="E0E0E0"/>
                </a:solidFill>
                <a:latin typeface="Cascadia Code"/>
              </a:defRPr>
            </a:pPr>
            <a:endParaRPr dirty="0"/>
          </a:p>
          <a:p>
            <a:pPr>
              <a:spcBef>
                <a:spcPts val="0"/>
              </a:spcBef>
              <a:spcAft>
                <a:spcPts val="0"/>
              </a:spcAft>
              <a:defRPr sz="1600">
                <a:solidFill>
                  <a:srgbClr val="E0E0E0"/>
                </a:solidFill>
                <a:latin typeface="Cascadia Code"/>
              </a:defRPr>
            </a:pPr>
            <a:r>
              <a:rPr dirty="0" err="1"/>
              <a:t>azd</a:t>
            </a:r>
            <a:r>
              <a:rPr dirty="0"/>
              <a:t> up                                  # ← deployed to production</a:t>
            </a:r>
          </a:p>
        </p:txBody>
      </p:sp>
      <p:sp>
        <p:nvSpPr>
          <p:cNvPr id="6" name="TextBox 5"/>
          <p:cNvSpPr txBox="1"/>
          <p:nvPr/>
        </p:nvSpPr>
        <p:spPr>
          <a:xfrm>
            <a:off x="731520" y="5212080"/>
            <a:ext cx="10515600" cy="731520"/>
          </a:xfrm>
          <a:prstGeom prst="rect">
            <a:avLst/>
          </a:prstGeom>
          <a:noFill/>
        </p:spPr>
        <p:txBody>
          <a:bodyPr wrap="square">
            <a:spAutoFit/>
          </a:bodyPr>
          <a:lstStyle/>
          <a:p>
            <a:pPr algn="l">
              <a:defRPr sz="2400" b="1">
                <a:solidFill>
                  <a:srgbClr val="FFD54F"/>
                </a:solidFill>
                <a:latin typeface="Segoe UI"/>
              </a:defRPr>
            </a:pPr>
            <a:r>
              <a:t>That's what we're going to build today. Let me show you how.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Meet the Demo: Interview Coach</a:t>
            </a:r>
          </a:p>
        </p:txBody>
      </p:sp>
      <p:sp>
        <p:nvSpPr>
          <p:cNvPr id="4" name="TextBox 3"/>
          <p:cNvSpPr txBox="1"/>
          <p:nvPr/>
        </p:nvSpPr>
        <p:spPr>
          <a:xfrm>
            <a:off x="731520" y="1371600"/>
            <a:ext cx="5029200" cy="4572000"/>
          </a:xfrm>
          <a:prstGeom prst="rect">
            <a:avLst/>
          </a:prstGeom>
          <a:noFill/>
        </p:spPr>
        <p:txBody>
          <a:bodyPr wrap="square">
            <a:spAutoFit/>
          </a:bodyPr>
          <a:lstStyle/>
          <a:p>
            <a:pPr algn="l">
              <a:defRPr sz="2400" b="1">
                <a:solidFill>
                  <a:srgbClr val="FFFFFF"/>
                </a:solidFill>
                <a:latin typeface="Segoe UI"/>
              </a:defRPr>
            </a:pPr>
            <a:r>
              <a:t>An AI interview practice coach</a:t>
            </a:r>
          </a:p>
          <a:p>
            <a:pPr>
              <a:spcBef>
                <a:spcPts val="400"/>
              </a:spcBef>
              <a:spcAft>
                <a:spcPts val="200"/>
              </a:spcAft>
              <a:defRPr sz="2000" b="0">
                <a:solidFill>
                  <a:srgbClr val="CCCCCC"/>
                </a:solidFill>
                <a:latin typeface="Segoe UI"/>
              </a:defRPr>
            </a:pPr>
            <a:r>
              <a:t>Collects resume &amp; job description</a:t>
            </a:r>
          </a:p>
          <a:p>
            <a:pPr>
              <a:spcBef>
                <a:spcPts val="400"/>
              </a:spcBef>
              <a:spcAft>
                <a:spcPts val="200"/>
              </a:spcAft>
              <a:defRPr sz="2000" b="0">
                <a:solidFill>
                  <a:srgbClr val="CCCCCC"/>
                </a:solidFill>
                <a:latin typeface="Segoe UI"/>
              </a:defRPr>
            </a:pPr>
            <a:r>
              <a:t>Conducts behavioral interview (STAR method)</a:t>
            </a:r>
          </a:p>
          <a:p>
            <a:pPr>
              <a:spcBef>
                <a:spcPts val="400"/>
              </a:spcBef>
              <a:spcAft>
                <a:spcPts val="200"/>
              </a:spcAft>
              <a:defRPr sz="2000" b="0">
                <a:solidFill>
                  <a:srgbClr val="CCCCCC"/>
                </a:solidFill>
                <a:latin typeface="Segoe UI"/>
              </a:defRPr>
            </a:pPr>
            <a:r>
              <a:t>Conducts technical interview</a:t>
            </a:r>
          </a:p>
          <a:p>
            <a:pPr>
              <a:spcBef>
                <a:spcPts val="400"/>
              </a:spcBef>
              <a:spcAft>
                <a:spcPts val="200"/>
              </a:spcAft>
              <a:defRPr sz="2000" b="0">
                <a:solidFill>
                  <a:srgbClr val="CCCCCC"/>
                </a:solidFill>
                <a:latin typeface="Segoe UI"/>
              </a:defRPr>
            </a:pPr>
            <a:r>
              <a:t>Generates comprehensive feedback summary</a:t>
            </a:r>
          </a:p>
          <a:p>
            <a:pPr algn="l">
              <a:spcBef>
                <a:spcPts val="600"/>
              </a:spcBef>
              <a:spcAft>
                <a:spcPts val="200"/>
              </a:spcAft>
              <a:defRPr sz="1200" b="0">
                <a:solidFill>
                  <a:srgbClr val="FFFFFF"/>
                </a:solidFill>
                <a:latin typeface="Segoe UI"/>
              </a:defRPr>
            </a:pPr>
            <a:endParaRPr/>
          </a:p>
          <a:p>
            <a:pPr algn="l">
              <a:spcBef>
                <a:spcPts val="1600"/>
              </a:spcBef>
              <a:spcAft>
                <a:spcPts val="200"/>
              </a:spcAft>
              <a:defRPr sz="2200" b="1">
                <a:solidFill>
                  <a:srgbClr val="FFD54F"/>
                </a:solidFill>
                <a:latin typeface="Segoe UI"/>
              </a:defRPr>
            </a:pPr>
            <a:r>
              <a:t>The app is the vehicle.</a:t>
            </a:r>
            <a:br/>
            <a:r>
              <a:t>The patterns are the point.</a:t>
            </a:r>
          </a:p>
        </p:txBody>
      </p:sp>
      <p:sp>
        <p:nvSpPr>
          <p:cNvPr id="5" name="TextBox 4"/>
          <p:cNvSpPr txBox="1"/>
          <p:nvPr/>
        </p:nvSpPr>
        <p:spPr>
          <a:xfrm>
            <a:off x="6217920" y="1645920"/>
            <a:ext cx="5029200" cy="4114800"/>
          </a:xfrm>
          <a:prstGeom prst="rect">
            <a:avLst/>
          </a:prstGeom>
          <a:noFill/>
        </p:spPr>
        <p:txBody>
          <a:bodyPr wrap="square">
            <a:spAutoFit/>
          </a:bodyPr>
          <a:lstStyle/>
          <a:p>
            <a:pPr algn="l">
              <a:defRPr sz="2200" b="1">
                <a:solidFill>
                  <a:srgbClr val="00BCD4"/>
                </a:solidFill>
                <a:latin typeface="Segoe UI"/>
              </a:defRPr>
            </a:pPr>
            <a:r>
              <a:t>Same patterns work for:</a:t>
            </a:r>
          </a:p>
          <a:p>
            <a:pPr>
              <a:spcBef>
                <a:spcPts val="400"/>
              </a:spcBef>
              <a:spcAft>
                <a:spcPts val="200"/>
              </a:spcAft>
              <a:defRPr sz="2000" b="0">
                <a:solidFill>
                  <a:srgbClr val="CCCCCC"/>
                </a:solidFill>
                <a:latin typeface="Segoe UI"/>
              </a:defRPr>
            </a:pPr>
            <a:r>
              <a:t>Customer support bots</a:t>
            </a:r>
          </a:p>
          <a:p>
            <a:pPr>
              <a:spcBef>
                <a:spcPts val="400"/>
              </a:spcBef>
              <a:spcAft>
                <a:spcPts val="200"/>
              </a:spcAft>
              <a:defRPr sz="2000" b="0">
                <a:solidFill>
                  <a:srgbClr val="CCCCCC"/>
                </a:solidFill>
                <a:latin typeface="Segoe UI"/>
              </a:defRPr>
            </a:pPr>
            <a:r>
              <a:t>Sales assistants</a:t>
            </a:r>
          </a:p>
          <a:p>
            <a:pPr>
              <a:spcBef>
                <a:spcPts val="400"/>
              </a:spcBef>
              <a:spcAft>
                <a:spcPts val="200"/>
              </a:spcAft>
              <a:defRPr sz="2000" b="0">
                <a:solidFill>
                  <a:srgbClr val="CCCCCC"/>
                </a:solidFill>
                <a:latin typeface="Segoe UI"/>
              </a:defRPr>
            </a:pPr>
            <a:r>
              <a:t>Educational tutors</a:t>
            </a:r>
          </a:p>
          <a:p>
            <a:pPr>
              <a:spcBef>
                <a:spcPts val="400"/>
              </a:spcBef>
              <a:spcAft>
                <a:spcPts val="200"/>
              </a:spcAft>
              <a:defRPr sz="2000" b="0">
                <a:solidFill>
                  <a:srgbClr val="CCCCCC"/>
                </a:solidFill>
                <a:latin typeface="Segoe UI"/>
              </a:defRPr>
            </a:pPr>
            <a:r>
              <a:t>Intake / triage forms</a:t>
            </a:r>
          </a:p>
          <a:p>
            <a:pPr>
              <a:spcBef>
                <a:spcPts val="400"/>
              </a:spcBef>
              <a:spcAft>
                <a:spcPts val="200"/>
              </a:spcAft>
              <a:defRPr sz="2000" b="0">
                <a:solidFill>
                  <a:srgbClr val="CCCCCC"/>
                </a:solidFill>
                <a:latin typeface="Segoe UI"/>
              </a:defRPr>
            </a:pPr>
            <a:r>
              <a:t>Any multi-step AI workflow</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3D6B"/>
        </a:solidFill>
        <a:effectLst/>
      </p:bgPr>
    </p:bg>
    <p:spTree>
      <p:nvGrpSpPr>
        <p:cNvPr id="1" name=""/>
        <p:cNvGrpSpPr/>
        <p:nvPr/>
      </p:nvGrpSpPr>
      <p:grpSpPr>
        <a:xfrm>
          <a:off x="0" y="0"/>
          <a:ext cx="0" cy="0"/>
          <a:chOff x="0" y="0"/>
          <a:chExt cx="0" cy="0"/>
        </a:xfrm>
      </p:grpSpPr>
      <p:sp>
        <p:nvSpPr>
          <p:cNvPr id="2" name="Rectangle 1"/>
          <p:cNvSpPr/>
          <p:nvPr/>
        </p:nvSpPr>
        <p:spPr>
          <a:xfrm>
            <a:off x="0" y="2926080"/>
            <a:ext cx="2286000" cy="7315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0"/>
            <a:ext cx="10515600" cy="1097280"/>
          </a:xfrm>
          <a:prstGeom prst="rect">
            <a:avLst/>
          </a:prstGeom>
          <a:noFill/>
        </p:spPr>
        <p:txBody>
          <a:bodyPr wrap="square">
            <a:spAutoFit/>
          </a:bodyPr>
          <a:lstStyle/>
          <a:p>
            <a:pPr algn="l">
              <a:defRPr sz="4400" b="1">
                <a:solidFill>
                  <a:srgbClr val="FFFFFF"/>
                </a:solidFill>
                <a:latin typeface="Segoe UI"/>
              </a:defRPr>
            </a:pPr>
            <a:r>
              <a:t>Microsoft Agent Framework</a:t>
            </a:r>
          </a:p>
        </p:txBody>
      </p:sp>
      <p:sp>
        <p:nvSpPr>
          <p:cNvPr id="4" name="TextBox 3"/>
          <p:cNvSpPr txBox="1"/>
          <p:nvPr/>
        </p:nvSpPr>
        <p:spPr>
          <a:xfrm>
            <a:off x="731520" y="3200400"/>
            <a:ext cx="10515600" cy="731520"/>
          </a:xfrm>
          <a:prstGeom prst="rect">
            <a:avLst/>
          </a:prstGeom>
          <a:noFill/>
        </p:spPr>
        <p:txBody>
          <a:bodyPr wrap="square">
            <a:spAutoFit/>
          </a:bodyPr>
          <a:lstStyle/>
          <a:p>
            <a:pPr algn="l">
              <a:defRPr sz="2200" b="0">
                <a:solidFill>
                  <a:srgbClr val="CCCCCC"/>
                </a:solidFill>
                <a:latin typeface="Segoe UI"/>
              </a:defRPr>
            </a:pPr>
            <a:r>
              <a:t>Simplifying the AI layer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What is Agent Framework?</a:t>
            </a:r>
          </a:p>
        </p:txBody>
      </p:sp>
      <p:sp>
        <p:nvSpPr>
          <p:cNvPr id="4" name="TextBox 3"/>
          <p:cNvSpPr txBox="1"/>
          <p:nvPr/>
        </p:nvSpPr>
        <p:spPr>
          <a:xfrm>
            <a:off x="731520" y="1371600"/>
            <a:ext cx="10515600" cy="4572000"/>
          </a:xfrm>
          <a:prstGeom prst="rect">
            <a:avLst/>
          </a:prstGeom>
          <a:noFill/>
        </p:spPr>
        <p:txBody>
          <a:bodyPr wrap="square">
            <a:spAutoFit/>
          </a:bodyPr>
          <a:lstStyle/>
          <a:p>
            <a:pPr algn="l">
              <a:defRPr sz="2400" b="1">
                <a:solidFill>
                  <a:srgbClr val="FFFFFF"/>
                </a:solidFill>
                <a:latin typeface="Segoe UI"/>
              </a:defRPr>
            </a:pPr>
            <a:r>
              <a:t>.NET library for production AI agents</a:t>
            </a:r>
          </a:p>
          <a:p>
            <a:pPr>
              <a:spcBef>
                <a:spcPts val="400"/>
              </a:spcBef>
              <a:spcAft>
                <a:spcPts val="200"/>
              </a:spcAft>
              <a:defRPr sz="2000" b="0">
                <a:solidFill>
                  <a:srgbClr val="CCCCCC"/>
                </a:solidFill>
                <a:latin typeface="Segoe UI"/>
              </a:defRPr>
            </a:pPr>
            <a:r>
              <a:t>Structured agent instructions with tool calling</a:t>
            </a:r>
          </a:p>
          <a:p>
            <a:pPr>
              <a:spcBef>
                <a:spcPts val="400"/>
              </a:spcBef>
              <a:spcAft>
                <a:spcPts val="200"/>
              </a:spcAft>
              <a:defRPr sz="2000" b="0">
                <a:solidFill>
                  <a:srgbClr val="CCCCCC"/>
                </a:solidFill>
                <a:latin typeface="Segoe UI"/>
              </a:defRPr>
            </a:pPr>
            <a:r>
              <a:t>Multi-agent orchestration (handoff pattern)</a:t>
            </a:r>
          </a:p>
          <a:p>
            <a:pPr>
              <a:spcBef>
                <a:spcPts val="400"/>
              </a:spcBef>
              <a:spcAft>
                <a:spcPts val="200"/>
              </a:spcAft>
              <a:defRPr sz="2000" b="0">
                <a:solidFill>
                  <a:srgbClr val="CCCCCC"/>
                </a:solidFill>
                <a:latin typeface="Segoe UI"/>
              </a:defRPr>
            </a:pPr>
            <a:r>
              <a:t>Built on IChatClient (Microsoft.Extensions.AI)</a:t>
            </a:r>
          </a:p>
          <a:p>
            <a:pPr>
              <a:spcBef>
                <a:spcPts val="400"/>
              </a:spcBef>
              <a:spcAft>
                <a:spcPts val="200"/>
              </a:spcAft>
              <a:defRPr sz="2000" b="0">
                <a:solidFill>
                  <a:srgbClr val="CCCCCC"/>
                </a:solidFill>
                <a:latin typeface="Segoe UI"/>
              </a:defRPr>
            </a:pPr>
            <a:r>
              <a:t>OpenAI-compatible — works with any provider</a:t>
            </a:r>
          </a:p>
          <a:p>
            <a:pPr>
              <a:spcBef>
                <a:spcPts val="400"/>
              </a:spcBef>
              <a:spcAft>
                <a:spcPts val="200"/>
              </a:spcAft>
              <a:defRPr sz="2000" b="0">
                <a:solidFill>
                  <a:srgbClr val="CCCCCC"/>
                </a:solidFill>
                <a:latin typeface="Segoe UI"/>
              </a:defRPr>
            </a:pPr>
            <a:r>
              <a:t>AG-UI protocol for frontend communication</a:t>
            </a:r>
          </a:p>
          <a:p>
            <a:pPr algn="l">
              <a:spcBef>
                <a:spcPts val="600"/>
              </a:spcBef>
              <a:spcAft>
                <a:spcPts val="200"/>
              </a:spcAft>
              <a:defRPr sz="800" b="0">
                <a:solidFill>
                  <a:srgbClr val="FFFFFF"/>
                </a:solidFill>
                <a:latin typeface="Segoe UI"/>
              </a:defRPr>
            </a:pPr>
            <a:endParaRPr/>
          </a:p>
          <a:p>
            <a:pPr algn="l">
              <a:spcBef>
                <a:spcPts val="1200"/>
              </a:spcBef>
              <a:spcAft>
                <a:spcPts val="200"/>
              </a:spcAft>
              <a:defRPr sz="2200" b="1">
                <a:solidFill>
                  <a:srgbClr val="00BCD4"/>
                </a:solidFill>
                <a:latin typeface="Segoe UI"/>
              </a:defRPr>
            </a:pPr>
            <a:r>
              <a:t>Think of it as ASP.NET Core for AI agents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The Key Abstraction: IChatClient</a:t>
            </a:r>
          </a:p>
        </p:txBody>
      </p:sp>
      <p:sp>
        <p:nvSpPr>
          <p:cNvPr id="4" name="TextBox 3"/>
          <p:cNvSpPr txBox="1"/>
          <p:nvPr/>
        </p:nvSpPr>
        <p:spPr>
          <a:xfrm>
            <a:off x="731520" y="1280160"/>
            <a:ext cx="4572000" cy="914400"/>
          </a:xfrm>
          <a:prstGeom prst="rect">
            <a:avLst/>
          </a:prstGeom>
          <a:noFill/>
        </p:spPr>
        <p:txBody>
          <a:bodyPr wrap="square">
            <a:spAutoFit/>
          </a:bodyPr>
          <a:lstStyle/>
          <a:p>
            <a:pPr algn="l">
              <a:defRPr sz="2400" b="1">
                <a:solidFill>
                  <a:srgbClr val="FFFFFF"/>
                </a:solidFill>
                <a:latin typeface="Segoe UI"/>
              </a:defRPr>
            </a:pPr>
            <a:r>
              <a:t>One interface, any provider</a:t>
            </a:r>
          </a:p>
        </p:txBody>
      </p:sp>
      <p:sp>
        <p:nvSpPr>
          <p:cNvPr id="5" name="Rounded Rectangle 4"/>
          <p:cNvSpPr/>
          <p:nvPr/>
        </p:nvSpPr>
        <p:spPr>
          <a:xfrm>
            <a:off x="731520" y="2011680"/>
            <a:ext cx="5029200" cy="384048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rtlCol="0" anchor="ctr"/>
          <a:lstStyle/>
          <a:p>
            <a:pPr>
              <a:spcBef>
                <a:spcPts val="0"/>
              </a:spcBef>
              <a:spcAft>
                <a:spcPts val="0"/>
              </a:spcAft>
              <a:defRPr sz="1300">
                <a:solidFill>
                  <a:srgbClr val="E0E0E0"/>
                </a:solidFill>
                <a:latin typeface="Cascadia Code"/>
              </a:defRPr>
            </a:pPr>
            <a:r>
              <a:rPr sz="1200" dirty="0"/>
              <a:t>public </a:t>
            </a:r>
            <a:r>
              <a:rPr sz="1200" dirty="0" err="1"/>
              <a:t>enum</a:t>
            </a:r>
            <a:r>
              <a:rPr sz="1200" dirty="0"/>
              <a:t> </a:t>
            </a:r>
            <a:r>
              <a:rPr sz="1200" dirty="0" err="1"/>
              <a:t>LlmProvider</a:t>
            </a:r>
            <a:endParaRPr sz="1200" dirty="0"/>
          </a:p>
          <a:p>
            <a:pPr>
              <a:spcBef>
                <a:spcPts val="0"/>
              </a:spcBef>
              <a:spcAft>
                <a:spcPts val="0"/>
              </a:spcAft>
              <a:defRPr sz="1300">
                <a:solidFill>
                  <a:srgbClr val="E0E0E0"/>
                </a:solidFill>
                <a:latin typeface="Cascadia Code"/>
              </a:defRPr>
            </a:pPr>
            <a:r>
              <a:rPr sz="1200" dirty="0"/>
              <a:t>{</a:t>
            </a:r>
          </a:p>
          <a:p>
            <a:pPr>
              <a:spcBef>
                <a:spcPts val="0"/>
              </a:spcBef>
              <a:spcAft>
                <a:spcPts val="0"/>
              </a:spcAft>
              <a:defRPr sz="1300">
                <a:solidFill>
                  <a:srgbClr val="E0E0E0"/>
                </a:solidFill>
                <a:latin typeface="Cascadia Code"/>
              </a:defRPr>
            </a:pPr>
            <a:r>
              <a:rPr sz="1200" dirty="0"/>
              <a:t>    </a:t>
            </a:r>
            <a:r>
              <a:rPr sz="1200" dirty="0" err="1"/>
              <a:t>GitHubModels</a:t>
            </a:r>
            <a:r>
              <a:rPr sz="1200" dirty="0"/>
              <a:t>,</a:t>
            </a:r>
          </a:p>
          <a:p>
            <a:pPr>
              <a:spcBef>
                <a:spcPts val="0"/>
              </a:spcBef>
              <a:spcAft>
                <a:spcPts val="0"/>
              </a:spcAft>
              <a:defRPr sz="1300">
                <a:solidFill>
                  <a:srgbClr val="E0E0E0"/>
                </a:solidFill>
                <a:latin typeface="Cascadia Code"/>
              </a:defRPr>
            </a:pPr>
            <a:r>
              <a:rPr sz="1200" dirty="0"/>
              <a:t>    </a:t>
            </a:r>
            <a:r>
              <a:rPr sz="1200" dirty="0" err="1"/>
              <a:t>AzureOpenAI</a:t>
            </a:r>
            <a:r>
              <a:rPr sz="1200" dirty="0"/>
              <a:t>,</a:t>
            </a:r>
          </a:p>
          <a:p>
            <a:pPr>
              <a:spcBef>
                <a:spcPts val="0"/>
              </a:spcBef>
              <a:spcAft>
                <a:spcPts val="0"/>
              </a:spcAft>
              <a:defRPr sz="1300">
                <a:solidFill>
                  <a:srgbClr val="E0E0E0"/>
                </a:solidFill>
                <a:latin typeface="Cascadia Code"/>
              </a:defRPr>
            </a:pPr>
            <a:r>
              <a:rPr sz="1200" dirty="0"/>
              <a:t>    </a:t>
            </a:r>
            <a:r>
              <a:rPr sz="1200" dirty="0" err="1"/>
              <a:t>MicrosoftFoundry</a:t>
            </a:r>
            <a:r>
              <a:rPr sz="1200" dirty="0"/>
              <a:t>,</a:t>
            </a:r>
          </a:p>
          <a:p>
            <a:pPr>
              <a:spcBef>
                <a:spcPts val="0"/>
              </a:spcBef>
              <a:spcAft>
                <a:spcPts val="0"/>
              </a:spcAft>
              <a:defRPr sz="1300">
                <a:solidFill>
                  <a:srgbClr val="E0E0E0"/>
                </a:solidFill>
                <a:latin typeface="Cascadia Code"/>
              </a:defRPr>
            </a:pPr>
            <a:r>
              <a:rPr sz="1200" dirty="0"/>
              <a:t>    </a:t>
            </a:r>
            <a:r>
              <a:rPr sz="1200" dirty="0" err="1"/>
              <a:t>GitHubCopilot</a:t>
            </a:r>
            <a:endParaRPr sz="1200" dirty="0"/>
          </a:p>
          <a:p>
            <a:pPr>
              <a:spcBef>
                <a:spcPts val="0"/>
              </a:spcBef>
              <a:spcAft>
                <a:spcPts val="0"/>
              </a:spcAft>
              <a:defRPr sz="1300">
                <a:solidFill>
                  <a:srgbClr val="E0E0E0"/>
                </a:solidFill>
                <a:latin typeface="Cascadia Code"/>
              </a:defRPr>
            </a:pPr>
            <a:r>
              <a:rPr sz="1200" dirty="0"/>
              <a:t>}</a:t>
            </a:r>
          </a:p>
          <a:p>
            <a:pPr>
              <a:spcBef>
                <a:spcPts val="0"/>
              </a:spcBef>
              <a:spcAft>
                <a:spcPts val="0"/>
              </a:spcAft>
              <a:defRPr sz="1300">
                <a:solidFill>
                  <a:srgbClr val="E0E0E0"/>
                </a:solidFill>
                <a:latin typeface="Cascadia Code"/>
              </a:defRPr>
            </a:pPr>
            <a:endParaRPr sz="1200" dirty="0"/>
          </a:p>
          <a:p>
            <a:pPr>
              <a:spcBef>
                <a:spcPts val="0"/>
              </a:spcBef>
              <a:spcAft>
                <a:spcPts val="0"/>
              </a:spcAft>
              <a:defRPr sz="1300">
                <a:solidFill>
                  <a:srgbClr val="E0E0E0"/>
                </a:solidFill>
                <a:latin typeface="Cascadia Code"/>
              </a:defRPr>
            </a:pPr>
            <a:r>
              <a:rPr sz="1200" dirty="0"/>
              <a:t>// In </a:t>
            </a:r>
            <a:r>
              <a:rPr sz="1200" dirty="0" err="1"/>
              <a:t>AppHost</a:t>
            </a:r>
            <a:r>
              <a:rPr sz="1200" dirty="0"/>
              <a:t> — one switch, done:</a:t>
            </a:r>
          </a:p>
          <a:p>
            <a:pPr>
              <a:spcBef>
                <a:spcPts val="0"/>
              </a:spcBef>
              <a:spcAft>
                <a:spcPts val="0"/>
              </a:spcAft>
              <a:defRPr sz="1300">
                <a:solidFill>
                  <a:srgbClr val="E0E0E0"/>
                </a:solidFill>
                <a:latin typeface="Cascadia Code"/>
              </a:defRPr>
            </a:pPr>
            <a:r>
              <a:rPr sz="1200" dirty="0"/>
              <a:t>source = provider switch</a:t>
            </a:r>
          </a:p>
          <a:p>
            <a:pPr>
              <a:spcBef>
                <a:spcPts val="0"/>
              </a:spcBef>
              <a:spcAft>
                <a:spcPts val="0"/>
              </a:spcAft>
              <a:defRPr sz="1300">
                <a:solidFill>
                  <a:srgbClr val="E0E0E0"/>
                </a:solidFill>
                <a:latin typeface="Cascadia Code"/>
              </a:defRPr>
            </a:pPr>
            <a:r>
              <a:rPr sz="1200" dirty="0"/>
              <a:t>{</a:t>
            </a:r>
          </a:p>
          <a:p>
            <a:pPr>
              <a:spcBef>
                <a:spcPts val="0"/>
              </a:spcBef>
              <a:spcAft>
                <a:spcPts val="0"/>
              </a:spcAft>
              <a:defRPr sz="1300">
                <a:solidFill>
                  <a:srgbClr val="E0E0E0"/>
                </a:solidFill>
                <a:latin typeface="Cascadia Code"/>
              </a:defRPr>
            </a:pPr>
            <a:r>
              <a:rPr sz="1200" dirty="0"/>
              <a:t>    </a:t>
            </a:r>
            <a:r>
              <a:rPr sz="1200" dirty="0" err="1"/>
              <a:t>GitHubModels</a:t>
            </a:r>
            <a:r>
              <a:rPr sz="1200" dirty="0"/>
              <a:t>     =&gt; </a:t>
            </a:r>
            <a:r>
              <a:rPr sz="1200" dirty="0" err="1"/>
              <a:t>AddGitHubModelsResource</a:t>
            </a:r>
            <a:r>
              <a:rPr sz="1200" dirty="0"/>
              <a:t>(...),</a:t>
            </a:r>
          </a:p>
          <a:p>
            <a:pPr>
              <a:spcBef>
                <a:spcPts val="0"/>
              </a:spcBef>
              <a:spcAft>
                <a:spcPts val="0"/>
              </a:spcAft>
              <a:defRPr sz="1300">
                <a:solidFill>
                  <a:srgbClr val="E0E0E0"/>
                </a:solidFill>
                <a:latin typeface="Cascadia Code"/>
              </a:defRPr>
            </a:pPr>
            <a:r>
              <a:rPr sz="1200" dirty="0"/>
              <a:t>    </a:t>
            </a:r>
            <a:r>
              <a:rPr sz="1200" dirty="0" err="1"/>
              <a:t>AzureOpenAI</a:t>
            </a:r>
            <a:r>
              <a:rPr sz="1200" dirty="0"/>
              <a:t>      =&gt; </a:t>
            </a:r>
            <a:r>
              <a:rPr sz="1200" dirty="0" err="1"/>
              <a:t>AddAzureOpenAIResource</a:t>
            </a:r>
            <a:r>
              <a:rPr sz="1200" dirty="0"/>
              <a:t>(...),</a:t>
            </a:r>
          </a:p>
          <a:p>
            <a:pPr>
              <a:spcBef>
                <a:spcPts val="0"/>
              </a:spcBef>
              <a:spcAft>
                <a:spcPts val="0"/>
              </a:spcAft>
              <a:defRPr sz="1300">
                <a:solidFill>
                  <a:srgbClr val="E0E0E0"/>
                </a:solidFill>
                <a:latin typeface="Cascadia Code"/>
              </a:defRPr>
            </a:pPr>
            <a:r>
              <a:rPr sz="1200" dirty="0"/>
              <a:t>    </a:t>
            </a:r>
            <a:r>
              <a:rPr sz="1200" dirty="0" err="1"/>
              <a:t>MicrosoftFoundry</a:t>
            </a:r>
            <a:r>
              <a:rPr sz="1200" dirty="0"/>
              <a:t> =&gt; </a:t>
            </a:r>
            <a:r>
              <a:rPr sz="1200" dirty="0" err="1"/>
              <a:t>AddFoundryResource</a:t>
            </a:r>
            <a:r>
              <a:rPr sz="1200" dirty="0"/>
              <a:t>(...),</a:t>
            </a:r>
          </a:p>
          <a:p>
            <a:pPr>
              <a:spcBef>
                <a:spcPts val="0"/>
              </a:spcBef>
              <a:spcAft>
                <a:spcPts val="0"/>
              </a:spcAft>
              <a:defRPr sz="1300">
                <a:solidFill>
                  <a:srgbClr val="E0E0E0"/>
                </a:solidFill>
                <a:latin typeface="Cascadia Code"/>
              </a:defRPr>
            </a:pPr>
            <a:r>
              <a:rPr sz="1200" dirty="0"/>
              <a:t>    </a:t>
            </a:r>
            <a:r>
              <a:rPr sz="1200" dirty="0" err="1"/>
              <a:t>GitHubCopilot</a:t>
            </a:r>
            <a:r>
              <a:rPr sz="1200" dirty="0"/>
              <a:t>    =&gt; </a:t>
            </a:r>
            <a:r>
              <a:rPr sz="1200" dirty="0" err="1"/>
              <a:t>AddCopilotResource</a:t>
            </a:r>
            <a:r>
              <a:rPr sz="1200" dirty="0"/>
              <a:t>(...),</a:t>
            </a:r>
          </a:p>
          <a:p>
            <a:pPr>
              <a:spcBef>
                <a:spcPts val="0"/>
              </a:spcBef>
              <a:spcAft>
                <a:spcPts val="0"/>
              </a:spcAft>
              <a:defRPr sz="1300">
                <a:solidFill>
                  <a:srgbClr val="E0E0E0"/>
                </a:solidFill>
                <a:latin typeface="Cascadia Code"/>
              </a:defRPr>
            </a:pPr>
            <a:r>
              <a:rPr sz="1200" dirty="0"/>
              <a:t>};</a:t>
            </a:r>
          </a:p>
        </p:txBody>
      </p:sp>
      <p:sp>
        <p:nvSpPr>
          <p:cNvPr id="6" name="TextBox 5"/>
          <p:cNvSpPr txBox="1"/>
          <p:nvPr/>
        </p:nvSpPr>
        <p:spPr>
          <a:xfrm>
            <a:off x="6217920" y="2011680"/>
            <a:ext cx="5029200" cy="4114800"/>
          </a:xfrm>
          <a:prstGeom prst="rect">
            <a:avLst/>
          </a:prstGeom>
          <a:noFill/>
        </p:spPr>
        <p:txBody>
          <a:bodyPr wrap="square">
            <a:spAutoFit/>
          </a:bodyPr>
          <a:lstStyle/>
          <a:p>
            <a:pPr algn="l">
              <a:defRPr sz="2200" b="1">
                <a:solidFill>
                  <a:srgbClr val="00BCD4"/>
                </a:solidFill>
                <a:latin typeface="Segoe UI"/>
              </a:defRPr>
            </a:pPr>
            <a:r>
              <a:t>Your agent code never changes:</a:t>
            </a:r>
          </a:p>
          <a:p>
            <a:pPr algn="l">
              <a:spcBef>
                <a:spcPts val="1200"/>
              </a:spcBef>
              <a:spcAft>
                <a:spcPts val="200"/>
              </a:spcAft>
              <a:defRPr sz="1800" b="0">
                <a:solidFill>
                  <a:srgbClr val="CCCCCC"/>
                </a:solidFill>
                <a:latin typeface="Segoe UI"/>
              </a:defRPr>
            </a:pPr>
            <a:r>
              <a:t>The agent just asks for IChatClient via DI.</a:t>
            </a:r>
          </a:p>
          <a:p>
            <a:pPr algn="l">
              <a:spcBef>
                <a:spcPts val="600"/>
              </a:spcBef>
              <a:spcAft>
                <a:spcPts val="200"/>
              </a:spcAft>
              <a:defRPr sz="1800" b="0">
                <a:solidFill>
                  <a:srgbClr val="CCCCCC"/>
                </a:solidFill>
                <a:latin typeface="Segoe UI"/>
              </a:defRPr>
            </a:pPr>
            <a:r>
              <a:t>Prototype on GitHub Models (free).</a:t>
            </a:r>
          </a:p>
          <a:p>
            <a:pPr algn="l">
              <a:spcBef>
                <a:spcPts val="600"/>
              </a:spcBef>
              <a:spcAft>
                <a:spcPts val="200"/>
              </a:spcAft>
              <a:defRPr sz="1800" b="0">
                <a:solidFill>
                  <a:srgbClr val="CCCCCC"/>
                </a:solidFill>
                <a:latin typeface="Segoe UI"/>
              </a:defRPr>
            </a:pPr>
            <a:r>
              <a:t>Deploy on Foundry or Azure OpenAI.</a:t>
            </a:r>
          </a:p>
          <a:p>
            <a:pPr algn="l">
              <a:spcBef>
                <a:spcPts val="600"/>
              </a:spcBef>
              <a:spcAft>
                <a:spcPts val="200"/>
              </a:spcAft>
              <a:defRPr sz="1800" b="0">
                <a:solidFill>
                  <a:srgbClr val="CCCCCC"/>
                </a:solidFill>
                <a:latin typeface="Segoe UI"/>
              </a:defRPr>
            </a:pPr>
            <a:r>
              <a:t>Switch with a config flag:</a:t>
            </a:r>
          </a:p>
          <a:p>
            <a:pPr algn="l">
              <a:spcBef>
                <a:spcPts val="1200"/>
              </a:spcBef>
              <a:spcAft>
                <a:spcPts val="200"/>
              </a:spcAft>
              <a:defRPr sz="1600" b="0">
                <a:solidFill>
                  <a:srgbClr val="E0E0E0"/>
                </a:solidFill>
                <a:latin typeface="Cascadia Code"/>
              </a:defRPr>
            </a:pPr>
            <a:r>
              <a:t>aspire run -- --provider GitHubModels</a:t>
            </a:r>
          </a:p>
          <a:p>
            <a:pPr algn="l">
              <a:spcBef>
                <a:spcPts val="600"/>
              </a:spcBef>
              <a:spcAft>
                <a:spcPts val="200"/>
              </a:spcAft>
              <a:defRPr sz="1600" b="0">
                <a:solidFill>
                  <a:srgbClr val="E0E0E0"/>
                </a:solidFill>
                <a:latin typeface="Cascadia Code"/>
              </a:defRPr>
            </a:pPr>
            <a:r>
              <a:t>aspire run -- --provider MicrosoftFoundry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Building an Agent — It's Just a Few Lines</a:t>
            </a:r>
          </a:p>
        </p:txBody>
      </p:sp>
      <p:sp>
        <p:nvSpPr>
          <p:cNvPr id="4" name="Rounded Rectangle 3"/>
          <p:cNvSpPr/>
          <p:nvPr/>
        </p:nvSpPr>
        <p:spPr>
          <a:xfrm>
            <a:off x="731520" y="1463040"/>
            <a:ext cx="10515600" cy="438912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rtlCol="0" anchor="ctr"/>
          <a:lstStyle/>
          <a:p>
            <a:pPr>
              <a:spcBef>
                <a:spcPts val="0"/>
              </a:spcBef>
              <a:spcAft>
                <a:spcPts val="0"/>
              </a:spcAft>
              <a:defRPr sz="1400">
                <a:solidFill>
                  <a:srgbClr val="E0E0E0"/>
                </a:solidFill>
                <a:latin typeface="Cascadia Code"/>
              </a:defRPr>
            </a:pPr>
            <a:r>
              <a:rPr dirty="0"/>
              <a:t>// Get dependencies via DI</a:t>
            </a:r>
          </a:p>
          <a:p>
            <a:pPr>
              <a:spcBef>
                <a:spcPts val="0"/>
              </a:spcBef>
              <a:spcAft>
                <a:spcPts val="0"/>
              </a:spcAft>
              <a:defRPr sz="1400">
                <a:solidFill>
                  <a:srgbClr val="E0E0E0"/>
                </a:solidFill>
                <a:latin typeface="Cascadia Code"/>
              </a:defRPr>
            </a:pPr>
            <a:r>
              <a:rPr dirty="0"/>
              <a:t>var </a:t>
            </a:r>
            <a:r>
              <a:rPr dirty="0" err="1"/>
              <a:t>chatClient</a:t>
            </a:r>
            <a:r>
              <a:rPr dirty="0"/>
              <a:t> = </a:t>
            </a:r>
            <a:r>
              <a:rPr dirty="0" err="1"/>
              <a:t>sp.GetRequiredService</a:t>
            </a:r>
            <a:r>
              <a:rPr dirty="0"/>
              <a:t>&lt;</a:t>
            </a:r>
            <a:r>
              <a:rPr dirty="0" err="1"/>
              <a:t>IChatClient</a:t>
            </a:r>
            <a:r>
              <a:rPr dirty="0"/>
              <a:t>&gt;();</a:t>
            </a:r>
          </a:p>
          <a:p>
            <a:pPr>
              <a:spcBef>
                <a:spcPts val="0"/>
              </a:spcBef>
              <a:spcAft>
                <a:spcPts val="0"/>
              </a:spcAft>
              <a:defRPr sz="1400">
                <a:solidFill>
                  <a:srgbClr val="E0E0E0"/>
                </a:solidFill>
                <a:latin typeface="Cascadia Code"/>
              </a:defRPr>
            </a:pPr>
            <a:r>
              <a:rPr dirty="0"/>
              <a:t>var </a:t>
            </a:r>
            <a:r>
              <a:rPr dirty="0" err="1"/>
              <a:t>markitdown</a:t>
            </a:r>
            <a:r>
              <a:rPr dirty="0"/>
              <a:t> = </a:t>
            </a:r>
            <a:r>
              <a:rPr dirty="0" err="1"/>
              <a:t>sp.GetRequiredKeyedService</a:t>
            </a:r>
            <a:r>
              <a:rPr dirty="0"/>
              <a:t>&lt;</a:t>
            </a:r>
            <a:r>
              <a:rPr dirty="0" err="1"/>
              <a:t>McpClient</a:t>
            </a:r>
            <a:r>
              <a:rPr dirty="0"/>
              <a:t>&gt;("</a:t>
            </a:r>
            <a:r>
              <a:rPr dirty="0" err="1"/>
              <a:t>mcp-markitdown</a:t>
            </a:r>
            <a:r>
              <a:rPr dirty="0"/>
              <a:t>");</a:t>
            </a:r>
          </a:p>
          <a:p>
            <a:pPr>
              <a:spcBef>
                <a:spcPts val="0"/>
              </a:spcBef>
              <a:spcAft>
                <a:spcPts val="0"/>
              </a:spcAft>
              <a:defRPr sz="1400">
                <a:solidFill>
                  <a:srgbClr val="E0E0E0"/>
                </a:solidFill>
                <a:latin typeface="Cascadia Code"/>
              </a:defRPr>
            </a:pPr>
            <a:r>
              <a:rPr dirty="0"/>
              <a:t>var </a:t>
            </a:r>
            <a:r>
              <a:rPr dirty="0" err="1"/>
              <a:t>interviewData</a:t>
            </a:r>
            <a:r>
              <a:rPr dirty="0"/>
              <a:t> = </a:t>
            </a:r>
            <a:r>
              <a:rPr dirty="0" err="1"/>
              <a:t>sp.GetRequiredKeyedService</a:t>
            </a:r>
            <a:r>
              <a:rPr dirty="0"/>
              <a:t>&lt;</a:t>
            </a:r>
            <a:r>
              <a:rPr dirty="0" err="1"/>
              <a:t>McpClient</a:t>
            </a:r>
            <a:r>
              <a:rPr dirty="0"/>
              <a:t>&gt;("</a:t>
            </a:r>
            <a:r>
              <a:rPr dirty="0" err="1"/>
              <a:t>mcp</a:t>
            </a:r>
            <a:r>
              <a:rPr dirty="0"/>
              <a:t>-interview-data");</a:t>
            </a:r>
          </a:p>
          <a:p>
            <a:pPr>
              <a:spcBef>
                <a:spcPts val="0"/>
              </a:spcBef>
              <a:spcAft>
                <a:spcPts val="0"/>
              </a:spcAft>
              <a:defRPr sz="1400">
                <a:solidFill>
                  <a:srgbClr val="E0E0E0"/>
                </a:solidFill>
                <a:latin typeface="Cascadia Code"/>
              </a:defRPr>
            </a:pPr>
            <a:endParaRPr dirty="0"/>
          </a:p>
          <a:p>
            <a:pPr>
              <a:spcBef>
                <a:spcPts val="0"/>
              </a:spcBef>
              <a:spcAft>
                <a:spcPts val="0"/>
              </a:spcAft>
              <a:defRPr sz="1400">
                <a:solidFill>
                  <a:srgbClr val="E0E0E0"/>
                </a:solidFill>
                <a:latin typeface="Cascadia Code"/>
              </a:defRPr>
            </a:pPr>
            <a:r>
              <a:rPr dirty="0"/>
              <a:t>// Discover tools from MCP servers at runtime</a:t>
            </a:r>
          </a:p>
          <a:p>
            <a:pPr>
              <a:spcBef>
                <a:spcPts val="0"/>
              </a:spcBef>
              <a:spcAft>
                <a:spcPts val="0"/>
              </a:spcAft>
              <a:defRPr sz="1400">
                <a:solidFill>
                  <a:srgbClr val="E0E0E0"/>
                </a:solidFill>
                <a:latin typeface="Cascadia Code"/>
              </a:defRPr>
            </a:pPr>
            <a:r>
              <a:rPr dirty="0"/>
              <a:t>var </a:t>
            </a:r>
            <a:r>
              <a:rPr dirty="0" err="1"/>
              <a:t>markitdownTools</a:t>
            </a:r>
            <a:r>
              <a:rPr dirty="0"/>
              <a:t> = </a:t>
            </a:r>
            <a:r>
              <a:rPr dirty="0" err="1"/>
              <a:t>markitdown.ListToolsAsync</a:t>
            </a:r>
            <a:r>
              <a:rPr dirty="0"/>
              <a:t>().</a:t>
            </a:r>
            <a:r>
              <a:rPr dirty="0" err="1"/>
              <a:t>GetAwaiter</a:t>
            </a:r>
            <a:r>
              <a:rPr dirty="0"/>
              <a:t>().</a:t>
            </a:r>
            <a:r>
              <a:rPr dirty="0" err="1"/>
              <a:t>GetResult</a:t>
            </a:r>
            <a:r>
              <a:rPr dirty="0"/>
              <a:t>();</a:t>
            </a:r>
          </a:p>
          <a:p>
            <a:pPr>
              <a:spcBef>
                <a:spcPts val="0"/>
              </a:spcBef>
              <a:spcAft>
                <a:spcPts val="0"/>
              </a:spcAft>
              <a:defRPr sz="1400">
                <a:solidFill>
                  <a:srgbClr val="E0E0E0"/>
                </a:solidFill>
                <a:latin typeface="Cascadia Code"/>
              </a:defRPr>
            </a:pPr>
            <a:r>
              <a:rPr dirty="0"/>
              <a:t>var </a:t>
            </a:r>
            <a:r>
              <a:rPr dirty="0" err="1"/>
              <a:t>interviewDataTools</a:t>
            </a:r>
            <a:r>
              <a:rPr dirty="0"/>
              <a:t> = </a:t>
            </a:r>
            <a:r>
              <a:rPr dirty="0" err="1"/>
              <a:t>interviewData.ListToolsAsync</a:t>
            </a:r>
            <a:r>
              <a:rPr dirty="0"/>
              <a:t>().</a:t>
            </a:r>
            <a:r>
              <a:rPr dirty="0" err="1"/>
              <a:t>GetAwaiter</a:t>
            </a:r>
            <a:r>
              <a:rPr dirty="0"/>
              <a:t>().</a:t>
            </a:r>
            <a:r>
              <a:rPr dirty="0" err="1"/>
              <a:t>GetResult</a:t>
            </a:r>
            <a:r>
              <a:rPr dirty="0"/>
              <a:t>();</a:t>
            </a:r>
          </a:p>
          <a:p>
            <a:pPr>
              <a:spcBef>
                <a:spcPts val="0"/>
              </a:spcBef>
              <a:spcAft>
                <a:spcPts val="0"/>
              </a:spcAft>
              <a:defRPr sz="1400">
                <a:solidFill>
                  <a:srgbClr val="E0E0E0"/>
                </a:solidFill>
                <a:latin typeface="Cascadia Code"/>
              </a:defRPr>
            </a:pPr>
            <a:endParaRPr dirty="0"/>
          </a:p>
          <a:p>
            <a:pPr>
              <a:spcBef>
                <a:spcPts val="0"/>
              </a:spcBef>
              <a:spcAft>
                <a:spcPts val="0"/>
              </a:spcAft>
              <a:defRPr sz="1400">
                <a:solidFill>
                  <a:srgbClr val="E0E0E0"/>
                </a:solidFill>
                <a:latin typeface="Cascadia Code"/>
              </a:defRPr>
            </a:pPr>
            <a:r>
              <a:rPr dirty="0"/>
              <a:t>// Create the agent — that's it</a:t>
            </a:r>
          </a:p>
          <a:p>
            <a:pPr>
              <a:spcBef>
                <a:spcPts val="0"/>
              </a:spcBef>
              <a:spcAft>
                <a:spcPts val="0"/>
              </a:spcAft>
              <a:defRPr sz="1400">
                <a:solidFill>
                  <a:srgbClr val="E0E0E0"/>
                </a:solidFill>
                <a:latin typeface="Cascadia Code"/>
              </a:defRPr>
            </a:pPr>
            <a:r>
              <a:rPr dirty="0"/>
              <a:t>var agent = new </a:t>
            </a:r>
            <a:r>
              <a:rPr dirty="0" err="1"/>
              <a:t>ChatClientAgent</a:t>
            </a:r>
            <a:r>
              <a:rPr dirty="0"/>
              <a:t>(</a:t>
            </a:r>
          </a:p>
          <a:p>
            <a:pPr>
              <a:spcBef>
                <a:spcPts val="0"/>
              </a:spcBef>
              <a:spcAft>
                <a:spcPts val="0"/>
              </a:spcAft>
              <a:defRPr sz="1400">
                <a:solidFill>
                  <a:srgbClr val="E0E0E0"/>
                </a:solidFill>
                <a:latin typeface="Cascadia Code"/>
              </a:defRPr>
            </a:pPr>
            <a:r>
              <a:rPr dirty="0"/>
              <a:t>    </a:t>
            </a:r>
            <a:r>
              <a:rPr dirty="0" err="1"/>
              <a:t>chatClient</a:t>
            </a:r>
            <a:r>
              <a:rPr dirty="0"/>
              <a:t>: </a:t>
            </a:r>
            <a:r>
              <a:rPr dirty="0" err="1"/>
              <a:t>chatClient</a:t>
            </a:r>
            <a:r>
              <a:rPr dirty="0"/>
              <a:t>,</a:t>
            </a:r>
          </a:p>
          <a:p>
            <a:pPr>
              <a:spcBef>
                <a:spcPts val="0"/>
              </a:spcBef>
              <a:spcAft>
                <a:spcPts val="0"/>
              </a:spcAft>
              <a:defRPr sz="1400">
                <a:solidFill>
                  <a:srgbClr val="E0E0E0"/>
                </a:solidFill>
                <a:latin typeface="Cascadia Code"/>
              </a:defRPr>
            </a:pPr>
            <a:r>
              <a:rPr dirty="0"/>
              <a:t>    name: "interview-coach",</a:t>
            </a:r>
          </a:p>
          <a:p>
            <a:pPr>
              <a:spcBef>
                <a:spcPts val="0"/>
              </a:spcBef>
              <a:spcAft>
                <a:spcPts val="0"/>
              </a:spcAft>
              <a:defRPr sz="1400">
                <a:solidFill>
                  <a:srgbClr val="E0E0E0"/>
                </a:solidFill>
                <a:latin typeface="Cascadia Code"/>
              </a:defRPr>
            </a:pPr>
            <a:r>
              <a:rPr dirty="0"/>
              <a:t>    instructions: """                     // ← natural language instructions</a:t>
            </a:r>
          </a:p>
          <a:p>
            <a:pPr>
              <a:spcBef>
                <a:spcPts val="0"/>
              </a:spcBef>
              <a:spcAft>
                <a:spcPts val="0"/>
              </a:spcAft>
              <a:defRPr sz="1400">
                <a:solidFill>
                  <a:srgbClr val="E0E0E0"/>
                </a:solidFill>
                <a:latin typeface="Cascadia Code"/>
              </a:defRPr>
            </a:pPr>
            <a:r>
              <a:rPr dirty="0"/>
              <a:t>        You are an AI Interview Coach...</a:t>
            </a:r>
          </a:p>
          <a:p>
            <a:pPr>
              <a:spcBef>
                <a:spcPts val="0"/>
              </a:spcBef>
              <a:spcAft>
                <a:spcPts val="0"/>
              </a:spcAft>
              <a:defRPr sz="1400">
                <a:solidFill>
                  <a:srgbClr val="E0E0E0"/>
                </a:solidFill>
                <a:latin typeface="Cascadia Code"/>
              </a:defRPr>
            </a:pPr>
            <a:r>
              <a:rPr dirty="0"/>
              <a:t>        """,</a:t>
            </a:r>
          </a:p>
          <a:p>
            <a:pPr>
              <a:spcBef>
                <a:spcPts val="0"/>
              </a:spcBef>
              <a:spcAft>
                <a:spcPts val="0"/>
              </a:spcAft>
              <a:defRPr sz="1400">
                <a:solidFill>
                  <a:srgbClr val="E0E0E0"/>
                </a:solidFill>
                <a:latin typeface="Cascadia Code"/>
              </a:defRPr>
            </a:pPr>
            <a:r>
              <a:rPr dirty="0"/>
              <a:t>    tools: [.. </a:t>
            </a:r>
            <a:r>
              <a:rPr dirty="0" err="1"/>
              <a:t>markitdownTools</a:t>
            </a:r>
            <a:r>
              <a:rPr dirty="0"/>
              <a:t>, .. </a:t>
            </a:r>
            <a:r>
              <a:rPr dirty="0" err="1"/>
              <a:t>interviewDataTools</a:t>
            </a:r>
            <a:r>
              <a:rPr dirty="0"/>
              <a:t>]  // ← MCP tools</a:t>
            </a:r>
          </a:p>
          <a:p>
            <a:pPr>
              <a:spcBef>
                <a:spcPts val="0"/>
              </a:spcBef>
              <a:spcAft>
                <a:spcPts val="0"/>
              </a:spcAft>
              <a:defRPr sz="1400">
                <a:solidFill>
                  <a:srgbClr val="E0E0E0"/>
                </a:solidFill>
                <a:latin typeface="Cascadia Code"/>
              </a:defRPr>
            </a:pPr>
            <a:r>
              <a:rPr dirty="0"/>
              <a:t>);</a:t>
            </a:r>
          </a:p>
        </p:txBody>
      </p:sp>
      <p:sp>
        <p:nvSpPr>
          <p:cNvPr id="5" name="TextBox 4"/>
          <p:cNvSpPr txBox="1"/>
          <p:nvPr/>
        </p:nvSpPr>
        <p:spPr>
          <a:xfrm>
            <a:off x="731520" y="6035040"/>
            <a:ext cx="10515600" cy="457200"/>
          </a:xfrm>
          <a:prstGeom prst="rect">
            <a:avLst/>
          </a:prstGeom>
          <a:noFill/>
        </p:spPr>
        <p:txBody>
          <a:bodyPr wrap="square">
            <a:spAutoFit/>
          </a:bodyPr>
          <a:lstStyle/>
          <a:p>
            <a:pPr algn="r">
              <a:defRPr sz="1400" b="0">
                <a:solidFill>
                  <a:srgbClr val="CCCCCC"/>
                </a:solidFill>
                <a:latin typeface="Segoe UI"/>
              </a:defRPr>
            </a:pPr>
            <a:r>
              <a:t>From AgentDelegateFactory.cs — the real code, not a simplified example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Why Multi-Agent?</a:t>
            </a:r>
          </a:p>
        </p:txBody>
      </p:sp>
      <p:sp>
        <p:nvSpPr>
          <p:cNvPr id="4" name="TextBox 3"/>
          <p:cNvSpPr txBox="1"/>
          <p:nvPr/>
        </p:nvSpPr>
        <p:spPr>
          <a:xfrm>
            <a:off x="731520" y="1371600"/>
            <a:ext cx="5029200" cy="4572000"/>
          </a:xfrm>
          <a:prstGeom prst="rect">
            <a:avLst/>
          </a:prstGeom>
          <a:noFill/>
        </p:spPr>
        <p:txBody>
          <a:bodyPr wrap="square">
            <a:spAutoFit/>
          </a:bodyPr>
          <a:lstStyle/>
          <a:p>
            <a:pPr algn="l">
              <a:defRPr sz="2400" b="1">
                <a:solidFill>
                  <a:srgbClr val="FFFFFF"/>
                </a:solidFill>
                <a:latin typeface="Segoe UI"/>
              </a:defRPr>
            </a:pPr>
            <a:r>
              <a:t>Single Agent</a:t>
            </a:r>
          </a:p>
          <a:p>
            <a:pPr>
              <a:spcBef>
                <a:spcPts val="400"/>
              </a:spcBef>
              <a:spcAft>
                <a:spcPts val="200"/>
              </a:spcAft>
              <a:defRPr sz="1800" b="0">
                <a:solidFill>
                  <a:srgbClr val="CCCCCC"/>
                </a:solidFill>
                <a:latin typeface="Segoe UI"/>
              </a:defRPr>
            </a:pPr>
            <a:r>
              <a:t>One massive instruction prompt</a:t>
            </a:r>
          </a:p>
          <a:p>
            <a:pPr>
              <a:spcBef>
                <a:spcPts val="400"/>
              </a:spcBef>
              <a:spcAft>
                <a:spcPts val="200"/>
              </a:spcAft>
              <a:defRPr sz="1800" b="0">
                <a:solidFill>
                  <a:srgbClr val="CCCCCC"/>
                </a:solidFill>
                <a:latin typeface="Segoe UI"/>
              </a:defRPr>
            </a:pPr>
            <a:r>
              <a:t>All tools available at once</a:t>
            </a:r>
          </a:p>
          <a:p>
            <a:pPr>
              <a:spcBef>
                <a:spcPts val="400"/>
              </a:spcBef>
              <a:spcAft>
                <a:spcPts val="200"/>
              </a:spcAft>
              <a:defRPr sz="1800" b="0">
                <a:solidFill>
                  <a:srgbClr val="CCCCCC"/>
                </a:solidFill>
                <a:latin typeface="Segoe UI"/>
              </a:defRPr>
            </a:pPr>
            <a:r>
              <a:t>Gets confused on complex workflows</a:t>
            </a:r>
          </a:p>
          <a:p>
            <a:pPr>
              <a:spcBef>
                <a:spcPts val="400"/>
              </a:spcBef>
              <a:spcAft>
                <a:spcPts val="200"/>
              </a:spcAft>
              <a:defRPr sz="1800" b="0">
                <a:solidFill>
                  <a:srgbClr val="CCCCCC"/>
                </a:solidFill>
                <a:latin typeface="Segoe UI"/>
              </a:defRPr>
            </a:pPr>
            <a:r>
              <a:t>Hard to debug &amp; maintain</a:t>
            </a:r>
          </a:p>
          <a:p>
            <a:pPr algn="l">
              <a:spcBef>
                <a:spcPts val="1200"/>
              </a:spcBef>
              <a:spcAft>
                <a:spcPts val="200"/>
              </a:spcAft>
              <a:defRPr sz="1600" b="0">
                <a:solidFill>
                  <a:srgbClr val="66BB6A"/>
                </a:solidFill>
                <a:latin typeface="Segoe UI"/>
              </a:defRPr>
            </a:pPr>
            <a:r>
              <a:t>✅ Good for: getting started, simple tasks</a:t>
            </a:r>
          </a:p>
        </p:txBody>
      </p:sp>
      <p:sp>
        <p:nvSpPr>
          <p:cNvPr id="5" name="TextBox 4"/>
          <p:cNvSpPr txBox="1"/>
          <p:nvPr/>
        </p:nvSpPr>
        <p:spPr>
          <a:xfrm>
            <a:off x="6217920" y="1371600"/>
            <a:ext cx="5029200" cy="4572000"/>
          </a:xfrm>
          <a:prstGeom prst="rect">
            <a:avLst/>
          </a:prstGeom>
          <a:noFill/>
        </p:spPr>
        <p:txBody>
          <a:bodyPr wrap="square">
            <a:spAutoFit/>
          </a:bodyPr>
          <a:lstStyle/>
          <a:p>
            <a:pPr algn="l">
              <a:defRPr sz="2400" b="1">
                <a:solidFill>
                  <a:srgbClr val="00BCD4"/>
                </a:solidFill>
                <a:latin typeface="Segoe UI"/>
              </a:defRPr>
            </a:pPr>
            <a:r>
              <a:t>Multi-Agent Handoff</a:t>
            </a:r>
          </a:p>
          <a:p>
            <a:pPr>
              <a:spcBef>
                <a:spcPts val="400"/>
              </a:spcBef>
              <a:spcAft>
                <a:spcPts val="200"/>
              </a:spcAft>
              <a:defRPr sz="1800" b="0">
                <a:solidFill>
                  <a:srgbClr val="CCCCCC"/>
                </a:solidFill>
                <a:latin typeface="Segoe UI"/>
              </a:defRPr>
            </a:pPr>
            <a:r>
              <a:t>Focused instructions per specialist</a:t>
            </a:r>
          </a:p>
          <a:p>
            <a:pPr>
              <a:spcBef>
                <a:spcPts val="400"/>
              </a:spcBef>
              <a:spcAft>
                <a:spcPts val="200"/>
              </a:spcAft>
              <a:defRPr sz="1800" b="0">
                <a:solidFill>
                  <a:srgbClr val="CCCCCC"/>
                </a:solidFill>
                <a:latin typeface="Segoe UI"/>
              </a:defRPr>
            </a:pPr>
            <a:r>
              <a:t>Scoped tools (least privilege)</a:t>
            </a:r>
          </a:p>
          <a:p>
            <a:pPr>
              <a:spcBef>
                <a:spcPts val="400"/>
              </a:spcBef>
              <a:spcAft>
                <a:spcPts val="200"/>
              </a:spcAft>
              <a:defRPr sz="1800" b="0">
                <a:solidFill>
                  <a:srgbClr val="CCCCCC"/>
                </a:solidFill>
                <a:latin typeface="Segoe UI"/>
              </a:defRPr>
            </a:pPr>
            <a:r>
              <a:t>Clear phase boundaries</a:t>
            </a:r>
          </a:p>
          <a:p>
            <a:pPr>
              <a:spcBef>
                <a:spcPts val="400"/>
              </a:spcBef>
              <a:spcAft>
                <a:spcPts val="200"/>
              </a:spcAft>
              <a:defRPr sz="1800" b="0">
                <a:solidFill>
                  <a:srgbClr val="CCCCCC"/>
                </a:solidFill>
                <a:latin typeface="Segoe UI"/>
              </a:defRPr>
            </a:pPr>
            <a:r>
              <a:t>Easy to debug &amp; extend</a:t>
            </a:r>
          </a:p>
          <a:p>
            <a:pPr algn="l">
              <a:spcBef>
                <a:spcPts val="1200"/>
              </a:spcBef>
              <a:spcAft>
                <a:spcPts val="200"/>
              </a:spcAft>
              <a:defRPr sz="1600" b="0">
                <a:solidFill>
                  <a:srgbClr val="66BB6A"/>
                </a:solidFill>
                <a:latin typeface="Segoe UI"/>
              </a:defRPr>
            </a:pPr>
            <a:r>
              <a:t>✅ Good for: production, complex workflows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Five Agents, One Workflow</a:t>
            </a:r>
          </a:p>
        </p:txBody>
      </p:sp>
      <p:graphicFrame>
        <p:nvGraphicFramePr>
          <p:cNvPr id="4" name="Table 3"/>
          <p:cNvGraphicFramePr>
            <a:graphicFrameLocks noGrp="1"/>
          </p:cNvGraphicFramePr>
          <p:nvPr/>
        </p:nvGraphicFramePr>
        <p:xfrm>
          <a:off x="731520" y="1463040"/>
          <a:ext cx="10515600" cy="36576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09600">
                <a:tc>
                  <a:txBody>
                    <a:bodyPr/>
                    <a:lstStyle/>
                    <a:p>
                      <a:pPr>
                        <a:defRPr sz="1400" b="1">
                          <a:solidFill>
                            <a:srgbClr val="FFFFFF"/>
                          </a:solidFill>
                          <a:latin typeface="Segoe UI"/>
                        </a:defRPr>
                      </a:pPr>
                      <a:r>
                        <a:t>Agent</a:t>
                      </a:r>
                    </a:p>
                  </a:txBody>
                  <a:tcPr>
                    <a:solidFill>
                      <a:srgbClr val="0F3D6B"/>
                    </a:solidFill>
                  </a:tcPr>
                </a:tc>
                <a:tc>
                  <a:txBody>
                    <a:bodyPr/>
                    <a:lstStyle/>
                    <a:p>
                      <a:pPr>
                        <a:defRPr sz="1400" b="1">
                          <a:solidFill>
                            <a:srgbClr val="FFFFFF"/>
                          </a:solidFill>
                          <a:latin typeface="Segoe UI"/>
                        </a:defRPr>
                      </a:pPr>
                      <a:r>
                        <a:t>Role</a:t>
                      </a:r>
                    </a:p>
                  </a:txBody>
                  <a:tcPr>
                    <a:solidFill>
                      <a:srgbClr val="0F3D6B"/>
                    </a:solidFill>
                  </a:tcPr>
                </a:tc>
                <a:tc>
                  <a:txBody>
                    <a:bodyPr/>
                    <a:lstStyle/>
                    <a:p>
                      <a:pPr>
                        <a:defRPr sz="1400" b="1">
                          <a:solidFill>
                            <a:srgbClr val="FFFFFF"/>
                          </a:solidFill>
                          <a:latin typeface="Segoe UI"/>
                        </a:defRPr>
                      </a:pPr>
                      <a:r>
                        <a:t>MCP Tools</a:t>
                      </a:r>
                    </a:p>
                  </a:txBody>
                  <a:tcPr>
                    <a:solidFill>
                      <a:srgbClr val="0F3D6B"/>
                    </a:solidFill>
                  </a:tcPr>
                </a:tc>
                <a:tc>
                  <a:txBody>
                    <a:bodyPr/>
                    <a:lstStyle/>
                    <a:p>
                      <a:pPr>
                        <a:defRPr sz="1400" b="1">
                          <a:solidFill>
                            <a:srgbClr val="FFFFFF"/>
                          </a:solidFill>
                          <a:latin typeface="Segoe UI"/>
                        </a:defRPr>
                      </a:pPr>
                      <a:r>
                        <a:t>Hands Off To</a:t>
                      </a:r>
                    </a:p>
                  </a:txBody>
                  <a:tcPr>
                    <a:solidFill>
                      <a:srgbClr val="0F3D6B"/>
                    </a:solidFill>
                  </a:tcPr>
                </a:tc>
                <a:extLst>
                  <a:ext uri="{0D108BD9-81ED-4DB2-BD59-A6C34878D82A}">
                    <a16:rowId xmlns:a16="http://schemas.microsoft.com/office/drawing/2014/main" val="10000"/>
                  </a:ext>
                </a:extLst>
              </a:tr>
              <a:tr h="609600">
                <a:tc>
                  <a:txBody>
                    <a:bodyPr/>
                    <a:lstStyle/>
                    <a:p>
                      <a:pPr>
                        <a:defRPr sz="1400" b="0">
                          <a:solidFill>
                            <a:srgbClr val="CCCCCC"/>
                          </a:solidFill>
                          <a:latin typeface="Segoe UI"/>
                        </a:defRPr>
                      </a:pPr>
                      <a:r>
                        <a:t>Triage</a:t>
                      </a:r>
                    </a:p>
                  </a:txBody>
                  <a:tcPr>
                    <a:solidFill>
                      <a:srgbClr val="1B1B2F"/>
                    </a:solidFill>
                  </a:tcPr>
                </a:tc>
                <a:tc>
                  <a:txBody>
                    <a:bodyPr/>
                    <a:lstStyle/>
                    <a:p>
                      <a:pPr>
                        <a:defRPr sz="1400" b="0">
                          <a:solidFill>
                            <a:srgbClr val="CCCCCC"/>
                          </a:solidFill>
                          <a:latin typeface="Segoe UI"/>
                        </a:defRPr>
                      </a:pPr>
                      <a:r>
                        <a:t>Routes to correct specialist</a:t>
                      </a:r>
                    </a:p>
                  </a:txBody>
                  <a:tcPr>
                    <a:solidFill>
                      <a:srgbClr val="1B1B2F"/>
                    </a:solidFill>
                  </a:tcPr>
                </a:tc>
                <a:tc>
                  <a:txBody>
                    <a:bodyPr/>
                    <a:lstStyle/>
                    <a:p>
                      <a:pPr>
                        <a:defRPr sz="1400" b="0">
                          <a:solidFill>
                            <a:srgbClr val="CCCCCC"/>
                          </a:solidFill>
                          <a:latin typeface="Segoe UI"/>
                        </a:defRPr>
                      </a:pPr>
                      <a:r>
                        <a:t>None (pure routing)</a:t>
                      </a:r>
                    </a:p>
                  </a:txBody>
                  <a:tcPr>
                    <a:solidFill>
                      <a:srgbClr val="1B1B2F"/>
                    </a:solidFill>
                  </a:tcPr>
                </a:tc>
                <a:tc>
                  <a:txBody>
                    <a:bodyPr/>
                    <a:lstStyle/>
                    <a:p>
                      <a:pPr>
                        <a:defRPr sz="1400" b="0">
                          <a:solidFill>
                            <a:srgbClr val="CCCCCC"/>
                          </a:solidFill>
                          <a:latin typeface="Segoe UI"/>
                        </a:defRPr>
                      </a:pPr>
                      <a:r>
                        <a:t>Any specialist</a:t>
                      </a:r>
                    </a:p>
                  </a:txBody>
                  <a:tcPr>
                    <a:solidFill>
                      <a:srgbClr val="1B1B2F"/>
                    </a:solidFill>
                  </a:tcPr>
                </a:tc>
                <a:extLst>
                  <a:ext uri="{0D108BD9-81ED-4DB2-BD59-A6C34878D82A}">
                    <a16:rowId xmlns:a16="http://schemas.microsoft.com/office/drawing/2014/main" val="10001"/>
                  </a:ext>
                </a:extLst>
              </a:tr>
              <a:tr h="609600">
                <a:tc>
                  <a:txBody>
                    <a:bodyPr/>
                    <a:lstStyle/>
                    <a:p>
                      <a:pPr>
                        <a:defRPr sz="1400" b="0">
                          <a:solidFill>
                            <a:srgbClr val="CCCCCC"/>
                          </a:solidFill>
                          <a:latin typeface="Segoe UI"/>
                        </a:defRPr>
                      </a:pPr>
                      <a:r>
                        <a:t>Receptionist</a:t>
                      </a:r>
                    </a:p>
                  </a:txBody>
                  <a:tcPr>
                    <a:solidFill>
                      <a:srgbClr val="22223A"/>
                    </a:solidFill>
                  </a:tcPr>
                </a:tc>
                <a:tc>
                  <a:txBody>
                    <a:bodyPr/>
                    <a:lstStyle/>
                    <a:p>
                      <a:pPr>
                        <a:defRPr sz="1400" b="0">
                          <a:solidFill>
                            <a:srgbClr val="CCCCCC"/>
                          </a:solidFill>
                          <a:latin typeface="Segoe UI"/>
                        </a:defRPr>
                      </a:pPr>
                      <a:r>
                        <a:t>Session setup, doc intake</a:t>
                      </a:r>
                    </a:p>
                  </a:txBody>
                  <a:tcPr>
                    <a:solidFill>
                      <a:srgbClr val="22223A"/>
                    </a:solidFill>
                  </a:tcPr>
                </a:tc>
                <a:tc>
                  <a:txBody>
                    <a:bodyPr/>
                    <a:lstStyle/>
                    <a:p>
                      <a:pPr>
                        <a:defRPr sz="1400" b="0">
                          <a:solidFill>
                            <a:srgbClr val="CCCCCC"/>
                          </a:solidFill>
                          <a:latin typeface="Segoe UI"/>
                        </a:defRPr>
                      </a:pPr>
                      <a:r>
                        <a:t>MarkItDown + InterviewData</a:t>
                      </a:r>
                    </a:p>
                  </a:txBody>
                  <a:tcPr>
                    <a:solidFill>
                      <a:srgbClr val="22223A"/>
                    </a:solidFill>
                  </a:tcPr>
                </a:tc>
                <a:tc>
                  <a:txBody>
                    <a:bodyPr/>
                    <a:lstStyle/>
                    <a:p>
                      <a:pPr>
                        <a:defRPr sz="1400" b="0">
                          <a:solidFill>
                            <a:srgbClr val="CCCCCC"/>
                          </a:solidFill>
                          <a:latin typeface="Segoe UI"/>
                        </a:defRPr>
                      </a:pPr>
                      <a:r>
                        <a:t>Behavioural</a:t>
                      </a:r>
                    </a:p>
                  </a:txBody>
                  <a:tcPr>
                    <a:solidFill>
                      <a:srgbClr val="22223A"/>
                    </a:solidFill>
                  </a:tcPr>
                </a:tc>
                <a:extLst>
                  <a:ext uri="{0D108BD9-81ED-4DB2-BD59-A6C34878D82A}">
                    <a16:rowId xmlns:a16="http://schemas.microsoft.com/office/drawing/2014/main" val="10002"/>
                  </a:ext>
                </a:extLst>
              </a:tr>
              <a:tr h="609600">
                <a:tc>
                  <a:txBody>
                    <a:bodyPr/>
                    <a:lstStyle/>
                    <a:p>
                      <a:pPr>
                        <a:defRPr sz="1400" b="0">
                          <a:solidFill>
                            <a:srgbClr val="CCCCCC"/>
                          </a:solidFill>
                          <a:latin typeface="Segoe UI"/>
                        </a:defRPr>
                      </a:pPr>
                      <a:r>
                        <a:t>Behavioural</a:t>
                      </a:r>
                    </a:p>
                  </a:txBody>
                  <a:tcPr>
                    <a:solidFill>
                      <a:srgbClr val="1B1B2F"/>
                    </a:solidFill>
                  </a:tcPr>
                </a:tc>
                <a:tc>
                  <a:txBody>
                    <a:bodyPr/>
                    <a:lstStyle/>
                    <a:p>
                      <a:pPr>
                        <a:defRPr sz="1400" b="0">
                          <a:solidFill>
                            <a:srgbClr val="CCCCCC"/>
                          </a:solidFill>
                          <a:latin typeface="Segoe UI"/>
                        </a:defRPr>
                      </a:pPr>
                      <a:r>
                        <a:t>STAR-based questions</a:t>
                      </a:r>
                    </a:p>
                  </a:txBody>
                  <a:tcPr>
                    <a:solidFill>
                      <a:srgbClr val="1B1B2F"/>
                    </a:solidFill>
                  </a:tcPr>
                </a:tc>
                <a:tc>
                  <a:txBody>
                    <a:bodyPr/>
                    <a:lstStyle/>
                    <a:p>
                      <a:pPr>
                        <a:defRPr sz="1400" b="0">
                          <a:solidFill>
                            <a:srgbClr val="CCCCCC"/>
                          </a:solidFill>
                          <a:latin typeface="Segoe UI"/>
                        </a:defRPr>
                      </a:pPr>
                      <a:r>
                        <a:t>InterviewData</a:t>
                      </a:r>
                    </a:p>
                  </a:txBody>
                  <a:tcPr>
                    <a:solidFill>
                      <a:srgbClr val="1B1B2F"/>
                    </a:solidFill>
                  </a:tcPr>
                </a:tc>
                <a:tc>
                  <a:txBody>
                    <a:bodyPr/>
                    <a:lstStyle/>
                    <a:p>
                      <a:pPr>
                        <a:defRPr sz="1400" b="0">
                          <a:solidFill>
                            <a:srgbClr val="CCCCCC"/>
                          </a:solidFill>
                          <a:latin typeface="Segoe UI"/>
                        </a:defRPr>
                      </a:pPr>
                      <a:r>
                        <a:t>Technical</a:t>
                      </a:r>
                    </a:p>
                  </a:txBody>
                  <a:tcPr>
                    <a:solidFill>
                      <a:srgbClr val="1B1B2F"/>
                    </a:solidFill>
                  </a:tcPr>
                </a:tc>
                <a:extLst>
                  <a:ext uri="{0D108BD9-81ED-4DB2-BD59-A6C34878D82A}">
                    <a16:rowId xmlns:a16="http://schemas.microsoft.com/office/drawing/2014/main" val="10003"/>
                  </a:ext>
                </a:extLst>
              </a:tr>
              <a:tr h="609600">
                <a:tc>
                  <a:txBody>
                    <a:bodyPr/>
                    <a:lstStyle/>
                    <a:p>
                      <a:pPr>
                        <a:defRPr sz="1400" b="0">
                          <a:solidFill>
                            <a:srgbClr val="CCCCCC"/>
                          </a:solidFill>
                          <a:latin typeface="Segoe UI"/>
                        </a:defRPr>
                      </a:pPr>
                      <a:r>
                        <a:t>Technical</a:t>
                      </a:r>
                    </a:p>
                  </a:txBody>
                  <a:tcPr>
                    <a:solidFill>
                      <a:srgbClr val="22223A"/>
                    </a:solidFill>
                  </a:tcPr>
                </a:tc>
                <a:tc>
                  <a:txBody>
                    <a:bodyPr/>
                    <a:lstStyle/>
                    <a:p>
                      <a:pPr>
                        <a:defRPr sz="1400" b="0">
                          <a:solidFill>
                            <a:srgbClr val="CCCCCC"/>
                          </a:solidFill>
                          <a:latin typeface="Segoe UI"/>
                        </a:defRPr>
                      </a:pPr>
                      <a:r>
                        <a:t>Role-specific tech questions</a:t>
                      </a:r>
                    </a:p>
                  </a:txBody>
                  <a:tcPr>
                    <a:solidFill>
                      <a:srgbClr val="22223A"/>
                    </a:solidFill>
                  </a:tcPr>
                </a:tc>
                <a:tc>
                  <a:txBody>
                    <a:bodyPr/>
                    <a:lstStyle/>
                    <a:p>
                      <a:pPr>
                        <a:defRPr sz="1400" b="0">
                          <a:solidFill>
                            <a:srgbClr val="CCCCCC"/>
                          </a:solidFill>
                          <a:latin typeface="Segoe UI"/>
                        </a:defRPr>
                      </a:pPr>
                      <a:r>
                        <a:t>InterviewData</a:t>
                      </a:r>
                    </a:p>
                  </a:txBody>
                  <a:tcPr>
                    <a:solidFill>
                      <a:srgbClr val="22223A"/>
                    </a:solidFill>
                  </a:tcPr>
                </a:tc>
                <a:tc>
                  <a:txBody>
                    <a:bodyPr/>
                    <a:lstStyle/>
                    <a:p>
                      <a:pPr>
                        <a:defRPr sz="1400" b="0">
                          <a:solidFill>
                            <a:srgbClr val="CCCCCC"/>
                          </a:solidFill>
                          <a:latin typeface="Segoe UI"/>
                        </a:defRPr>
                      </a:pPr>
                      <a:r>
                        <a:t>Summariser</a:t>
                      </a:r>
                    </a:p>
                  </a:txBody>
                  <a:tcPr>
                    <a:solidFill>
                      <a:srgbClr val="22223A"/>
                    </a:solidFill>
                  </a:tcPr>
                </a:tc>
                <a:extLst>
                  <a:ext uri="{0D108BD9-81ED-4DB2-BD59-A6C34878D82A}">
                    <a16:rowId xmlns:a16="http://schemas.microsoft.com/office/drawing/2014/main" val="10004"/>
                  </a:ext>
                </a:extLst>
              </a:tr>
              <a:tr h="609600">
                <a:tc>
                  <a:txBody>
                    <a:bodyPr/>
                    <a:lstStyle/>
                    <a:p>
                      <a:pPr>
                        <a:defRPr sz="1400" b="0">
                          <a:solidFill>
                            <a:srgbClr val="CCCCCC"/>
                          </a:solidFill>
                          <a:latin typeface="Segoe UI"/>
                        </a:defRPr>
                      </a:pPr>
                      <a:r>
                        <a:t>Summariser</a:t>
                      </a:r>
                    </a:p>
                  </a:txBody>
                  <a:tcPr>
                    <a:solidFill>
                      <a:srgbClr val="1B1B2F"/>
                    </a:solidFill>
                  </a:tcPr>
                </a:tc>
                <a:tc>
                  <a:txBody>
                    <a:bodyPr/>
                    <a:lstStyle/>
                    <a:p>
                      <a:pPr>
                        <a:defRPr sz="1400" b="0">
                          <a:solidFill>
                            <a:srgbClr val="CCCCCC"/>
                          </a:solidFill>
                          <a:latin typeface="Segoe UI"/>
                        </a:defRPr>
                      </a:pPr>
                      <a:r>
                        <a:t>Final summary &amp; feedback</a:t>
                      </a:r>
                    </a:p>
                  </a:txBody>
                  <a:tcPr>
                    <a:solidFill>
                      <a:srgbClr val="1B1B2F"/>
                    </a:solidFill>
                  </a:tcPr>
                </a:tc>
                <a:tc>
                  <a:txBody>
                    <a:bodyPr/>
                    <a:lstStyle/>
                    <a:p>
                      <a:pPr>
                        <a:defRPr sz="1400" b="0">
                          <a:solidFill>
                            <a:srgbClr val="CCCCCC"/>
                          </a:solidFill>
                          <a:latin typeface="Segoe UI"/>
                        </a:defRPr>
                      </a:pPr>
                      <a:r>
                        <a:t>InterviewData</a:t>
                      </a:r>
                    </a:p>
                  </a:txBody>
                  <a:tcPr>
                    <a:solidFill>
                      <a:srgbClr val="1B1B2F"/>
                    </a:solidFill>
                  </a:tcPr>
                </a:tc>
                <a:tc>
                  <a:txBody>
                    <a:bodyPr/>
                    <a:lstStyle/>
                    <a:p>
                      <a:pPr>
                        <a:defRPr sz="1400" b="0">
                          <a:solidFill>
                            <a:srgbClr val="CCCCCC"/>
                          </a:solidFill>
                          <a:latin typeface="Segoe UI"/>
                        </a:defRPr>
                      </a:pPr>
                      <a:r>
                        <a:t>Triage (end)</a:t>
                      </a:r>
                    </a:p>
                  </a:txBody>
                  <a:tcPr>
                    <a:solidFill>
                      <a:srgbClr val="1B1B2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731520" y="5303520"/>
            <a:ext cx="10515600" cy="731520"/>
          </a:xfrm>
          <a:prstGeom prst="rect">
            <a:avLst/>
          </a:prstGeom>
          <a:noFill/>
        </p:spPr>
        <p:txBody>
          <a:bodyPr wrap="square">
            <a:spAutoFit/>
          </a:bodyPr>
          <a:lstStyle/>
          <a:p>
            <a:pPr algn="ctr">
              <a:defRPr sz="2000" b="1">
                <a:solidFill>
                  <a:srgbClr val="00BCD4"/>
                </a:solidFill>
                <a:latin typeface="Segoe UI"/>
              </a:defRPr>
            </a:pPr>
            <a:r>
              <a:t>User → Triage → Receptionist → Behavioural → Technical → Summariser → Done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Wiring the Handoff — AgentWorkflowBuilder</a:t>
            </a:r>
          </a:p>
        </p:txBody>
      </p:sp>
      <p:sp>
        <p:nvSpPr>
          <p:cNvPr id="4" name="Rounded Rectangle 3"/>
          <p:cNvSpPr/>
          <p:nvPr/>
        </p:nvSpPr>
        <p:spPr>
          <a:xfrm>
            <a:off x="731520" y="1463040"/>
            <a:ext cx="10515600" cy="411480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rtlCol="0" anchor="ctr"/>
          <a:lstStyle/>
          <a:p>
            <a:pPr>
              <a:spcBef>
                <a:spcPts val="0"/>
              </a:spcBef>
              <a:spcAft>
                <a:spcPts val="0"/>
              </a:spcAft>
              <a:defRPr sz="1300">
                <a:solidFill>
                  <a:srgbClr val="E0E0E0"/>
                </a:solidFill>
                <a:latin typeface="Cascadia Code"/>
              </a:defRPr>
            </a:pPr>
            <a:r>
              <a:rPr dirty="0"/>
              <a:t>// Build the handoff workflow — sequential chain with Triage as fallback</a:t>
            </a:r>
          </a:p>
          <a:p>
            <a:pPr>
              <a:spcBef>
                <a:spcPts val="0"/>
              </a:spcBef>
              <a:spcAft>
                <a:spcPts val="0"/>
              </a:spcAft>
              <a:defRPr sz="1300">
                <a:solidFill>
                  <a:srgbClr val="E0E0E0"/>
                </a:solidFill>
                <a:latin typeface="Cascadia Code"/>
              </a:defRPr>
            </a:pPr>
            <a:r>
              <a:rPr dirty="0"/>
              <a:t>var workflow = </a:t>
            </a:r>
            <a:r>
              <a:rPr dirty="0" err="1"/>
              <a:t>AgentWorkflowBuilder</a:t>
            </a:r>
            <a:endParaRPr dirty="0"/>
          </a:p>
          <a:p>
            <a:pPr>
              <a:spcBef>
                <a:spcPts val="0"/>
              </a:spcBef>
              <a:spcAft>
                <a:spcPts val="0"/>
              </a:spcAft>
              <a:defRPr sz="1300">
                <a:solidFill>
                  <a:srgbClr val="E0E0E0"/>
                </a:solidFill>
                <a:latin typeface="Cascadia Code"/>
              </a:defRPr>
            </a:pPr>
            <a:r>
              <a:rPr dirty="0"/>
              <a:t>    .</a:t>
            </a:r>
            <a:r>
              <a:rPr dirty="0" err="1"/>
              <a:t>CreateHandoffBuilderWith</a:t>
            </a:r>
            <a:r>
              <a:rPr dirty="0"/>
              <a:t>(</a:t>
            </a:r>
            <a:r>
              <a:rPr dirty="0" err="1"/>
              <a:t>triageAgent</a:t>
            </a:r>
            <a:r>
              <a:rPr dirty="0"/>
              <a:t>)</a:t>
            </a:r>
          </a:p>
          <a:p>
            <a:pPr>
              <a:spcBef>
                <a:spcPts val="0"/>
              </a:spcBef>
              <a:spcAft>
                <a:spcPts val="0"/>
              </a:spcAft>
              <a:defRPr sz="1300">
                <a:solidFill>
                  <a:srgbClr val="E0E0E0"/>
                </a:solidFill>
                <a:latin typeface="Cascadia Code"/>
              </a:defRPr>
            </a:pPr>
            <a:r>
              <a:rPr dirty="0"/>
              <a:t>    .</a:t>
            </a:r>
            <a:r>
              <a:rPr dirty="0" err="1"/>
              <a:t>WithHandoffs</a:t>
            </a:r>
            <a:r>
              <a:rPr dirty="0"/>
              <a:t>(</a:t>
            </a:r>
            <a:r>
              <a:rPr dirty="0" err="1"/>
              <a:t>triageAgent</a:t>
            </a:r>
            <a:r>
              <a:rPr dirty="0"/>
              <a:t>,</a:t>
            </a:r>
          </a:p>
          <a:p>
            <a:pPr>
              <a:spcBef>
                <a:spcPts val="0"/>
              </a:spcBef>
              <a:spcAft>
                <a:spcPts val="0"/>
              </a:spcAft>
              <a:defRPr sz="1300">
                <a:solidFill>
                  <a:srgbClr val="E0E0E0"/>
                </a:solidFill>
                <a:latin typeface="Cascadia Code"/>
              </a:defRPr>
            </a:pPr>
            <a:r>
              <a:rPr dirty="0"/>
              <a:t>        [</a:t>
            </a:r>
            <a:r>
              <a:rPr dirty="0" err="1"/>
              <a:t>receptionistAgent</a:t>
            </a:r>
            <a:r>
              <a:rPr dirty="0"/>
              <a:t>, </a:t>
            </a:r>
            <a:r>
              <a:rPr dirty="0" err="1"/>
              <a:t>behaviouralAgent</a:t>
            </a:r>
            <a:r>
              <a:rPr dirty="0"/>
              <a:t>, </a:t>
            </a:r>
            <a:r>
              <a:rPr dirty="0" err="1"/>
              <a:t>technicalAgent</a:t>
            </a:r>
            <a:r>
              <a:rPr dirty="0"/>
              <a:t>, </a:t>
            </a:r>
            <a:r>
              <a:rPr dirty="0" err="1"/>
              <a:t>summariserAgent</a:t>
            </a:r>
            <a:r>
              <a:rPr dirty="0"/>
              <a:t>])</a:t>
            </a:r>
          </a:p>
          <a:p>
            <a:pPr>
              <a:spcBef>
                <a:spcPts val="0"/>
              </a:spcBef>
              <a:spcAft>
                <a:spcPts val="0"/>
              </a:spcAft>
              <a:defRPr sz="1300">
                <a:solidFill>
                  <a:srgbClr val="E0E0E0"/>
                </a:solidFill>
                <a:latin typeface="Cascadia Code"/>
              </a:defRPr>
            </a:pPr>
            <a:r>
              <a:rPr dirty="0"/>
              <a:t>    .</a:t>
            </a:r>
            <a:r>
              <a:rPr dirty="0" err="1"/>
              <a:t>WithHandoffs</a:t>
            </a:r>
            <a:r>
              <a:rPr dirty="0"/>
              <a:t>(</a:t>
            </a:r>
            <a:r>
              <a:rPr dirty="0" err="1"/>
              <a:t>receptionistAgent</a:t>
            </a:r>
            <a:r>
              <a:rPr dirty="0"/>
              <a:t>,  [</a:t>
            </a:r>
            <a:r>
              <a:rPr dirty="0" err="1"/>
              <a:t>behaviouralAgent</a:t>
            </a:r>
            <a:r>
              <a:rPr dirty="0"/>
              <a:t>, </a:t>
            </a:r>
            <a:r>
              <a:rPr dirty="0" err="1"/>
              <a:t>triageAgent</a:t>
            </a:r>
            <a:r>
              <a:rPr dirty="0"/>
              <a:t>])</a:t>
            </a:r>
          </a:p>
          <a:p>
            <a:pPr>
              <a:spcBef>
                <a:spcPts val="0"/>
              </a:spcBef>
              <a:spcAft>
                <a:spcPts val="0"/>
              </a:spcAft>
              <a:defRPr sz="1300">
                <a:solidFill>
                  <a:srgbClr val="E0E0E0"/>
                </a:solidFill>
                <a:latin typeface="Cascadia Code"/>
              </a:defRPr>
            </a:pPr>
            <a:r>
              <a:rPr dirty="0"/>
              <a:t>    .</a:t>
            </a:r>
            <a:r>
              <a:rPr dirty="0" err="1"/>
              <a:t>WithHandoffs</a:t>
            </a:r>
            <a:r>
              <a:rPr dirty="0"/>
              <a:t>(</a:t>
            </a:r>
            <a:r>
              <a:rPr dirty="0" err="1"/>
              <a:t>behaviouralAgent</a:t>
            </a:r>
            <a:r>
              <a:rPr dirty="0"/>
              <a:t>,   [</a:t>
            </a:r>
            <a:r>
              <a:rPr dirty="0" err="1"/>
              <a:t>technicalAgent</a:t>
            </a:r>
            <a:r>
              <a:rPr dirty="0"/>
              <a:t>, </a:t>
            </a:r>
            <a:r>
              <a:rPr dirty="0" err="1"/>
              <a:t>triageAgent</a:t>
            </a:r>
            <a:r>
              <a:rPr dirty="0"/>
              <a:t>])</a:t>
            </a:r>
          </a:p>
          <a:p>
            <a:pPr>
              <a:spcBef>
                <a:spcPts val="0"/>
              </a:spcBef>
              <a:spcAft>
                <a:spcPts val="0"/>
              </a:spcAft>
              <a:defRPr sz="1300">
                <a:solidFill>
                  <a:srgbClr val="E0E0E0"/>
                </a:solidFill>
                <a:latin typeface="Cascadia Code"/>
              </a:defRPr>
            </a:pPr>
            <a:r>
              <a:rPr dirty="0"/>
              <a:t>    .</a:t>
            </a:r>
            <a:r>
              <a:rPr dirty="0" err="1"/>
              <a:t>WithHandoffs</a:t>
            </a:r>
            <a:r>
              <a:rPr dirty="0"/>
              <a:t>(</a:t>
            </a:r>
            <a:r>
              <a:rPr dirty="0" err="1"/>
              <a:t>technicalAgent</a:t>
            </a:r>
            <a:r>
              <a:rPr dirty="0"/>
              <a:t>,     [</a:t>
            </a:r>
            <a:r>
              <a:rPr dirty="0" err="1"/>
              <a:t>summariserAgent</a:t>
            </a:r>
            <a:r>
              <a:rPr dirty="0"/>
              <a:t>, </a:t>
            </a:r>
            <a:r>
              <a:rPr dirty="0" err="1"/>
              <a:t>triageAgent</a:t>
            </a:r>
            <a:r>
              <a:rPr dirty="0"/>
              <a:t>])</a:t>
            </a:r>
          </a:p>
          <a:p>
            <a:pPr>
              <a:spcBef>
                <a:spcPts val="0"/>
              </a:spcBef>
              <a:spcAft>
                <a:spcPts val="0"/>
              </a:spcAft>
              <a:defRPr sz="1300">
                <a:solidFill>
                  <a:srgbClr val="E0E0E0"/>
                </a:solidFill>
                <a:latin typeface="Cascadia Code"/>
              </a:defRPr>
            </a:pPr>
            <a:r>
              <a:rPr dirty="0"/>
              <a:t>    .</a:t>
            </a:r>
            <a:r>
              <a:rPr dirty="0" err="1"/>
              <a:t>WithHandoff</a:t>
            </a:r>
            <a:r>
              <a:rPr dirty="0"/>
              <a:t>(</a:t>
            </a:r>
            <a:r>
              <a:rPr dirty="0" err="1"/>
              <a:t>summariserAgent</a:t>
            </a:r>
            <a:r>
              <a:rPr dirty="0"/>
              <a:t>,     </a:t>
            </a:r>
            <a:r>
              <a:rPr dirty="0" err="1"/>
              <a:t>triageAgent</a:t>
            </a:r>
            <a:r>
              <a:rPr dirty="0"/>
              <a:t>)</a:t>
            </a:r>
          </a:p>
          <a:p>
            <a:pPr>
              <a:spcBef>
                <a:spcPts val="0"/>
              </a:spcBef>
              <a:spcAft>
                <a:spcPts val="0"/>
              </a:spcAft>
              <a:defRPr sz="1300">
                <a:solidFill>
                  <a:srgbClr val="E0E0E0"/>
                </a:solidFill>
                <a:latin typeface="Cascadia Code"/>
              </a:defRPr>
            </a:pPr>
            <a:r>
              <a:rPr dirty="0"/>
              <a:t>    .Build();</a:t>
            </a:r>
          </a:p>
          <a:p>
            <a:pPr>
              <a:spcBef>
                <a:spcPts val="0"/>
              </a:spcBef>
              <a:spcAft>
                <a:spcPts val="0"/>
              </a:spcAft>
              <a:defRPr sz="1300">
                <a:solidFill>
                  <a:srgbClr val="E0E0E0"/>
                </a:solidFill>
                <a:latin typeface="Cascadia Code"/>
              </a:defRPr>
            </a:pPr>
            <a:endParaRPr dirty="0"/>
          </a:p>
          <a:p>
            <a:pPr>
              <a:spcBef>
                <a:spcPts val="0"/>
              </a:spcBef>
              <a:spcAft>
                <a:spcPts val="0"/>
              </a:spcAft>
              <a:defRPr sz="1300">
                <a:solidFill>
                  <a:srgbClr val="E0E0E0"/>
                </a:solidFill>
                <a:latin typeface="Cascadia Code"/>
              </a:defRPr>
            </a:pPr>
            <a:r>
              <a:rPr dirty="0"/>
              <a:t>// Each agent created with scoped tools:</a:t>
            </a:r>
          </a:p>
          <a:p>
            <a:pPr>
              <a:spcBef>
                <a:spcPts val="0"/>
              </a:spcBef>
              <a:spcAft>
                <a:spcPts val="0"/>
              </a:spcAft>
              <a:defRPr sz="1300">
                <a:solidFill>
                  <a:srgbClr val="E0E0E0"/>
                </a:solidFill>
                <a:latin typeface="Cascadia Code"/>
              </a:defRPr>
            </a:pPr>
            <a:r>
              <a:rPr dirty="0"/>
              <a:t>var </a:t>
            </a:r>
            <a:r>
              <a:rPr dirty="0" err="1"/>
              <a:t>receptionistAgent</a:t>
            </a:r>
            <a:r>
              <a:rPr dirty="0"/>
              <a:t> = new </a:t>
            </a:r>
            <a:r>
              <a:rPr dirty="0" err="1"/>
              <a:t>ChatClientAgent</a:t>
            </a:r>
            <a:r>
              <a:rPr dirty="0"/>
              <a:t>(</a:t>
            </a:r>
          </a:p>
          <a:p>
            <a:pPr>
              <a:spcBef>
                <a:spcPts val="0"/>
              </a:spcBef>
              <a:spcAft>
                <a:spcPts val="0"/>
              </a:spcAft>
              <a:defRPr sz="1300">
                <a:solidFill>
                  <a:srgbClr val="E0E0E0"/>
                </a:solidFill>
                <a:latin typeface="Cascadia Code"/>
              </a:defRPr>
            </a:pPr>
            <a:r>
              <a:rPr dirty="0"/>
              <a:t>    </a:t>
            </a:r>
            <a:r>
              <a:rPr dirty="0" err="1"/>
              <a:t>chatClient</a:t>
            </a:r>
            <a:r>
              <a:rPr dirty="0"/>
              <a:t>, "receptionist", instructions,</a:t>
            </a:r>
          </a:p>
          <a:p>
            <a:pPr>
              <a:spcBef>
                <a:spcPts val="0"/>
              </a:spcBef>
              <a:spcAft>
                <a:spcPts val="0"/>
              </a:spcAft>
              <a:defRPr sz="1300">
                <a:solidFill>
                  <a:srgbClr val="E0E0E0"/>
                </a:solidFill>
                <a:latin typeface="Cascadia Code"/>
              </a:defRPr>
            </a:pPr>
            <a:r>
              <a:rPr dirty="0"/>
              <a:t>    tools: [.. </a:t>
            </a:r>
            <a:r>
              <a:rPr dirty="0" err="1"/>
              <a:t>markitdownTools</a:t>
            </a:r>
            <a:r>
              <a:rPr dirty="0"/>
              <a:t>, .. </a:t>
            </a:r>
            <a:r>
              <a:rPr dirty="0" err="1"/>
              <a:t>interviewDataTools</a:t>
            </a:r>
            <a:r>
              <a:rPr dirty="0"/>
              <a:t>]  // all tools</a:t>
            </a:r>
          </a:p>
          <a:p>
            <a:pPr>
              <a:spcBef>
                <a:spcPts val="0"/>
              </a:spcBef>
              <a:spcAft>
                <a:spcPts val="0"/>
              </a:spcAft>
              <a:defRPr sz="1300">
                <a:solidFill>
                  <a:srgbClr val="E0E0E0"/>
                </a:solidFill>
                <a:latin typeface="Cascadia Code"/>
              </a:defRPr>
            </a:pPr>
            <a:r>
              <a:rPr dirty="0"/>
              <a:t>);</a:t>
            </a:r>
          </a:p>
          <a:p>
            <a:pPr>
              <a:spcBef>
                <a:spcPts val="0"/>
              </a:spcBef>
              <a:spcAft>
                <a:spcPts val="0"/>
              </a:spcAft>
              <a:defRPr sz="1300">
                <a:solidFill>
                  <a:srgbClr val="E0E0E0"/>
                </a:solidFill>
                <a:latin typeface="Cascadia Code"/>
              </a:defRPr>
            </a:pPr>
            <a:r>
              <a:rPr dirty="0"/>
              <a:t>var </a:t>
            </a:r>
            <a:r>
              <a:rPr dirty="0" err="1"/>
              <a:t>behaviouralAgent</a:t>
            </a:r>
            <a:r>
              <a:rPr dirty="0"/>
              <a:t> = new </a:t>
            </a:r>
            <a:r>
              <a:rPr dirty="0" err="1"/>
              <a:t>ChatClientAgent</a:t>
            </a:r>
            <a:r>
              <a:rPr dirty="0"/>
              <a:t>(</a:t>
            </a:r>
          </a:p>
          <a:p>
            <a:pPr>
              <a:spcBef>
                <a:spcPts val="0"/>
              </a:spcBef>
              <a:spcAft>
                <a:spcPts val="0"/>
              </a:spcAft>
              <a:defRPr sz="1300">
                <a:solidFill>
                  <a:srgbClr val="E0E0E0"/>
                </a:solidFill>
                <a:latin typeface="Cascadia Code"/>
              </a:defRPr>
            </a:pPr>
            <a:r>
              <a:rPr dirty="0"/>
              <a:t>    </a:t>
            </a:r>
            <a:r>
              <a:rPr dirty="0" err="1"/>
              <a:t>chatClient</a:t>
            </a:r>
            <a:r>
              <a:rPr dirty="0"/>
              <a:t>, "</a:t>
            </a:r>
            <a:r>
              <a:rPr dirty="0" err="1"/>
              <a:t>behavioural_interviewer</a:t>
            </a:r>
            <a:r>
              <a:rPr dirty="0"/>
              <a:t>", instructions,</a:t>
            </a:r>
          </a:p>
          <a:p>
            <a:pPr>
              <a:spcBef>
                <a:spcPts val="0"/>
              </a:spcBef>
              <a:spcAft>
                <a:spcPts val="0"/>
              </a:spcAft>
              <a:defRPr sz="1300">
                <a:solidFill>
                  <a:srgbClr val="E0E0E0"/>
                </a:solidFill>
                <a:latin typeface="Cascadia Code"/>
              </a:defRPr>
            </a:pPr>
            <a:r>
              <a:rPr dirty="0"/>
              <a:t>    tools: [.. </a:t>
            </a:r>
            <a:r>
              <a:rPr dirty="0" err="1"/>
              <a:t>interviewDataTools</a:t>
            </a:r>
            <a:r>
              <a:rPr dirty="0"/>
              <a:t>]                      // data only</a:t>
            </a:r>
          </a:p>
          <a:p>
            <a:pPr>
              <a:spcBef>
                <a:spcPts val="0"/>
              </a:spcBef>
              <a:spcAft>
                <a:spcPts val="0"/>
              </a:spcAft>
              <a:defRPr sz="1300">
                <a:solidFill>
                  <a:srgbClr val="E0E0E0"/>
                </a:solidFill>
                <a:latin typeface="Cascadia Code"/>
              </a:defRPr>
            </a:pPr>
            <a:r>
              <a:rPr dirty="0"/>
              <a:t>);</a:t>
            </a:r>
          </a:p>
        </p:txBody>
      </p:sp>
      <p:sp>
        <p:nvSpPr>
          <p:cNvPr id="5" name="TextBox 4"/>
          <p:cNvSpPr txBox="1"/>
          <p:nvPr/>
        </p:nvSpPr>
        <p:spPr>
          <a:xfrm>
            <a:off x="731520" y="5760720"/>
            <a:ext cx="10515600" cy="457200"/>
          </a:xfrm>
          <a:prstGeom prst="rect">
            <a:avLst/>
          </a:prstGeom>
          <a:noFill/>
        </p:spPr>
        <p:txBody>
          <a:bodyPr wrap="square">
            <a:spAutoFit/>
          </a:bodyPr>
          <a:lstStyle/>
          <a:p>
            <a:pPr algn="r">
              <a:defRPr sz="1400" b="0">
                <a:solidFill>
                  <a:srgbClr val="CCCCCC"/>
                </a:solidFill>
                <a:latin typeface="Segoe UI"/>
              </a:defRPr>
            </a:pPr>
            <a:r>
              <a:t>Real code from AgentDelegateFactory.cs — no simplification needed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Instruction Engineering</a:t>
            </a:r>
          </a:p>
        </p:txBody>
      </p:sp>
      <p:sp>
        <p:nvSpPr>
          <p:cNvPr id="4" name="Rounded Rectangle 3"/>
          <p:cNvSpPr/>
          <p:nvPr/>
        </p:nvSpPr>
        <p:spPr>
          <a:xfrm>
            <a:off x="731520" y="1371600"/>
            <a:ext cx="5303520" cy="475488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rtlCol="0" anchor="ctr"/>
          <a:lstStyle/>
          <a:p>
            <a:pPr>
              <a:spcBef>
                <a:spcPts val="0"/>
              </a:spcBef>
              <a:spcAft>
                <a:spcPts val="0"/>
              </a:spcAft>
              <a:defRPr sz="1400">
                <a:solidFill>
                  <a:srgbClr val="E0E0E0"/>
                </a:solidFill>
                <a:latin typeface="Cascadia Code"/>
              </a:defRPr>
            </a:pPr>
            <a:r>
              <a:rPr dirty="0"/>
              <a:t>// Triage Agent — state-aware routing</a:t>
            </a:r>
          </a:p>
          <a:p>
            <a:pPr>
              <a:spcBef>
                <a:spcPts val="0"/>
              </a:spcBef>
              <a:spcAft>
                <a:spcPts val="0"/>
              </a:spcAft>
              <a:defRPr sz="1400">
                <a:solidFill>
                  <a:srgbClr val="E0E0E0"/>
                </a:solidFill>
                <a:latin typeface="Cascadia Code"/>
              </a:defRPr>
            </a:pPr>
            <a:r>
              <a:rPr dirty="0"/>
              <a:t>instructions: """</a:t>
            </a:r>
          </a:p>
          <a:p>
            <a:pPr>
              <a:spcBef>
                <a:spcPts val="0"/>
              </a:spcBef>
              <a:spcAft>
                <a:spcPts val="0"/>
              </a:spcAft>
              <a:defRPr sz="1400">
                <a:solidFill>
                  <a:srgbClr val="E0E0E0"/>
                </a:solidFill>
                <a:latin typeface="Cascadia Code"/>
              </a:defRPr>
            </a:pPr>
            <a:r>
              <a:rPr dirty="0"/>
              <a:t>  You are the Triage agent.</a:t>
            </a:r>
          </a:p>
          <a:p>
            <a:pPr>
              <a:spcBef>
                <a:spcPts val="0"/>
              </a:spcBef>
              <a:spcAft>
                <a:spcPts val="0"/>
              </a:spcAft>
              <a:defRPr sz="1400">
                <a:solidFill>
                  <a:srgbClr val="E0E0E0"/>
                </a:solidFill>
                <a:latin typeface="Cascadia Code"/>
              </a:defRPr>
            </a:pPr>
            <a:r>
              <a:rPr dirty="0"/>
              <a:t>  Your ONLY job is to hand off</a:t>
            </a:r>
          </a:p>
          <a:p>
            <a:pPr>
              <a:spcBef>
                <a:spcPts val="0"/>
              </a:spcBef>
              <a:spcAft>
                <a:spcPts val="0"/>
              </a:spcAft>
              <a:defRPr sz="1400">
                <a:solidFill>
                  <a:srgbClr val="E0E0E0"/>
                </a:solidFill>
                <a:latin typeface="Cascadia Code"/>
              </a:defRPr>
            </a:pPr>
            <a:r>
              <a:rPr dirty="0"/>
              <a:t>  to the right specialist.</a:t>
            </a:r>
          </a:p>
          <a:p>
            <a:pPr>
              <a:spcBef>
                <a:spcPts val="0"/>
              </a:spcBef>
              <a:spcAft>
                <a:spcPts val="0"/>
              </a:spcAft>
              <a:defRPr sz="1400">
                <a:solidFill>
                  <a:srgbClr val="E0E0E0"/>
                </a:solidFill>
                <a:latin typeface="Cascadia Code"/>
              </a:defRPr>
            </a:pPr>
            <a:endParaRPr dirty="0"/>
          </a:p>
          <a:p>
            <a:pPr>
              <a:spcBef>
                <a:spcPts val="0"/>
              </a:spcBef>
              <a:spcAft>
                <a:spcPts val="0"/>
              </a:spcAft>
              <a:defRPr sz="1400">
                <a:solidFill>
                  <a:srgbClr val="E0E0E0"/>
                </a:solidFill>
                <a:latin typeface="Cascadia Code"/>
              </a:defRPr>
            </a:pPr>
            <a:r>
              <a:rPr dirty="0"/>
              <a:t>  IMPORTANT: Review the FULL</a:t>
            </a:r>
          </a:p>
          <a:p>
            <a:pPr>
              <a:spcBef>
                <a:spcPts val="0"/>
              </a:spcBef>
              <a:spcAft>
                <a:spcPts val="0"/>
              </a:spcAft>
              <a:defRPr sz="1400">
                <a:solidFill>
                  <a:srgbClr val="E0E0E0"/>
                </a:solidFill>
                <a:latin typeface="Cascadia Code"/>
              </a:defRPr>
            </a:pPr>
            <a:r>
              <a:rPr dirty="0"/>
              <a:t>  conversation history. Do NOT</a:t>
            </a:r>
          </a:p>
          <a:p>
            <a:pPr>
              <a:spcBef>
                <a:spcPts val="0"/>
              </a:spcBef>
              <a:spcAft>
                <a:spcPts val="0"/>
              </a:spcAft>
              <a:defRPr sz="1400">
                <a:solidFill>
                  <a:srgbClr val="E0E0E0"/>
                </a:solidFill>
                <a:latin typeface="Cascadia Code"/>
              </a:defRPr>
            </a:pPr>
            <a:r>
              <a:rPr dirty="0"/>
              <a:t>  re-route to a completed phase.</a:t>
            </a:r>
          </a:p>
          <a:p>
            <a:pPr>
              <a:spcBef>
                <a:spcPts val="0"/>
              </a:spcBef>
              <a:spcAft>
                <a:spcPts val="0"/>
              </a:spcAft>
              <a:defRPr sz="1400">
                <a:solidFill>
                  <a:srgbClr val="E0E0E0"/>
                </a:solidFill>
                <a:latin typeface="Cascadia Code"/>
              </a:defRPr>
            </a:pPr>
            <a:endParaRPr dirty="0"/>
          </a:p>
          <a:p>
            <a:pPr>
              <a:spcBef>
                <a:spcPts val="0"/>
              </a:spcBef>
              <a:spcAft>
                <a:spcPts val="0"/>
              </a:spcAft>
              <a:defRPr sz="1400">
                <a:solidFill>
                  <a:srgbClr val="E0E0E0"/>
                </a:solidFill>
                <a:latin typeface="Cascadia Code"/>
              </a:defRPr>
            </a:pPr>
            <a:r>
              <a:rPr dirty="0"/>
              <a:t>  Sequence:</a:t>
            </a:r>
          </a:p>
          <a:p>
            <a:pPr>
              <a:spcBef>
                <a:spcPts val="0"/>
              </a:spcBef>
              <a:spcAft>
                <a:spcPts val="0"/>
              </a:spcAft>
              <a:defRPr sz="1400">
                <a:solidFill>
                  <a:srgbClr val="E0E0E0"/>
                </a:solidFill>
                <a:latin typeface="Cascadia Code"/>
              </a:defRPr>
            </a:pPr>
            <a:r>
              <a:rPr dirty="0"/>
              <a:t>    1. Receptionist</a:t>
            </a:r>
          </a:p>
          <a:p>
            <a:pPr>
              <a:spcBef>
                <a:spcPts val="0"/>
              </a:spcBef>
              <a:spcAft>
                <a:spcPts val="0"/>
              </a:spcAft>
              <a:defRPr sz="1400">
                <a:solidFill>
                  <a:srgbClr val="E0E0E0"/>
                </a:solidFill>
                <a:latin typeface="Cascadia Code"/>
              </a:defRPr>
            </a:pPr>
            <a:r>
              <a:rPr dirty="0"/>
              <a:t>    2. </a:t>
            </a:r>
            <a:r>
              <a:rPr dirty="0" err="1"/>
              <a:t>Behavioural</a:t>
            </a:r>
            <a:r>
              <a:rPr dirty="0"/>
              <a:t> Interviewer</a:t>
            </a:r>
          </a:p>
          <a:p>
            <a:pPr>
              <a:spcBef>
                <a:spcPts val="0"/>
              </a:spcBef>
              <a:spcAft>
                <a:spcPts val="0"/>
              </a:spcAft>
              <a:defRPr sz="1400">
                <a:solidFill>
                  <a:srgbClr val="E0E0E0"/>
                </a:solidFill>
                <a:latin typeface="Cascadia Code"/>
              </a:defRPr>
            </a:pPr>
            <a:r>
              <a:rPr dirty="0"/>
              <a:t>    3. Technical Interviewer</a:t>
            </a:r>
          </a:p>
          <a:p>
            <a:pPr>
              <a:spcBef>
                <a:spcPts val="0"/>
              </a:spcBef>
              <a:spcAft>
                <a:spcPts val="0"/>
              </a:spcAft>
              <a:defRPr sz="1400">
                <a:solidFill>
                  <a:srgbClr val="E0E0E0"/>
                </a:solidFill>
                <a:latin typeface="Cascadia Code"/>
              </a:defRPr>
            </a:pPr>
            <a:r>
              <a:rPr dirty="0"/>
              <a:t>    4. </a:t>
            </a:r>
            <a:r>
              <a:rPr dirty="0" err="1"/>
              <a:t>Summariser</a:t>
            </a:r>
            <a:endParaRPr dirty="0"/>
          </a:p>
          <a:p>
            <a:pPr>
              <a:spcBef>
                <a:spcPts val="0"/>
              </a:spcBef>
              <a:spcAft>
                <a:spcPts val="0"/>
              </a:spcAft>
              <a:defRPr sz="1400">
                <a:solidFill>
                  <a:srgbClr val="E0E0E0"/>
                </a:solidFill>
                <a:latin typeface="Cascadia Code"/>
              </a:defRPr>
            </a:pPr>
            <a:r>
              <a:rPr dirty="0"/>
              <a:t>  """</a:t>
            </a:r>
          </a:p>
        </p:txBody>
      </p:sp>
      <p:sp>
        <p:nvSpPr>
          <p:cNvPr id="5" name="TextBox 4"/>
          <p:cNvSpPr txBox="1"/>
          <p:nvPr/>
        </p:nvSpPr>
        <p:spPr>
          <a:xfrm>
            <a:off x="6400800" y="1371600"/>
            <a:ext cx="5029200" cy="4754880"/>
          </a:xfrm>
          <a:prstGeom prst="rect">
            <a:avLst/>
          </a:prstGeom>
          <a:noFill/>
        </p:spPr>
        <p:txBody>
          <a:bodyPr wrap="square">
            <a:spAutoFit/>
          </a:bodyPr>
          <a:lstStyle/>
          <a:p>
            <a:pPr algn="l">
              <a:defRPr sz="2200" b="1">
                <a:solidFill>
                  <a:srgbClr val="00BCD4"/>
                </a:solidFill>
                <a:latin typeface="Segoe UI"/>
              </a:defRPr>
            </a:pPr>
            <a:r>
              <a:t>Instruction patterns:</a:t>
            </a:r>
          </a:p>
          <a:p>
            <a:pPr>
              <a:spcBef>
                <a:spcPts val="400"/>
              </a:spcBef>
              <a:spcAft>
                <a:spcPts val="200"/>
              </a:spcAft>
              <a:defRPr sz="1800" b="0">
                <a:solidFill>
                  <a:srgbClr val="CCCCCC"/>
                </a:solidFill>
                <a:latin typeface="Segoe UI"/>
              </a:defRPr>
            </a:pPr>
            <a:r>
              <a:t>Define the role clearly</a:t>
            </a:r>
          </a:p>
          <a:p>
            <a:pPr>
              <a:spcBef>
                <a:spcPts val="400"/>
              </a:spcBef>
              <a:spcAft>
                <a:spcPts val="200"/>
              </a:spcAft>
              <a:defRPr sz="1800" b="0">
                <a:solidFill>
                  <a:srgbClr val="CCCCCC"/>
                </a:solidFill>
                <a:latin typeface="Segoe UI"/>
              </a:defRPr>
            </a:pPr>
            <a:r>
              <a:t>Set boundaries (what NOT to do)</a:t>
            </a:r>
          </a:p>
          <a:p>
            <a:pPr>
              <a:spcBef>
                <a:spcPts val="400"/>
              </a:spcBef>
              <a:spcAft>
                <a:spcPts val="200"/>
              </a:spcAft>
              <a:defRPr sz="1800" b="0">
                <a:solidFill>
                  <a:srgbClr val="CCCCCC"/>
                </a:solidFill>
                <a:latin typeface="Segoe UI"/>
              </a:defRPr>
            </a:pPr>
            <a:r>
              <a:t>Give step-by-step process</a:t>
            </a:r>
          </a:p>
          <a:p>
            <a:pPr>
              <a:spcBef>
                <a:spcPts val="400"/>
              </a:spcBef>
              <a:spcAft>
                <a:spcPts val="200"/>
              </a:spcAft>
              <a:defRPr sz="1800" b="0">
                <a:solidFill>
                  <a:srgbClr val="CCCCCC"/>
                </a:solidFill>
                <a:latin typeface="Segoe UI"/>
              </a:defRPr>
            </a:pPr>
            <a:r>
              <a:t>Specify tool usage</a:t>
            </a:r>
          </a:p>
          <a:p>
            <a:pPr>
              <a:spcBef>
                <a:spcPts val="400"/>
              </a:spcBef>
              <a:spcAft>
                <a:spcPts val="200"/>
              </a:spcAft>
              <a:defRPr sz="1800" b="0">
                <a:solidFill>
                  <a:srgbClr val="CCCCCC"/>
                </a:solidFill>
                <a:latin typeface="Segoe UI"/>
              </a:defRPr>
            </a:pPr>
            <a:r>
              <a:t>Set tone (supportive, encouraging)</a:t>
            </a:r>
          </a:p>
          <a:p>
            <a:pPr>
              <a:spcBef>
                <a:spcPts val="400"/>
              </a:spcBef>
              <a:spcAft>
                <a:spcPts val="200"/>
              </a:spcAft>
              <a:defRPr sz="1800" b="0">
                <a:solidFill>
                  <a:srgbClr val="CCCCCC"/>
                </a:solidFill>
                <a:latin typeface="Segoe UI"/>
              </a:defRPr>
            </a:pPr>
            <a:r>
              <a:t>Make agents state-aware</a:t>
            </a:r>
          </a:p>
          <a:p>
            <a:pPr algn="l">
              <a:spcBef>
                <a:spcPts val="600"/>
              </a:spcBef>
              <a:spcAft>
                <a:spcPts val="200"/>
              </a:spcAft>
              <a:defRPr sz="800" b="0">
                <a:solidFill>
                  <a:srgbClr val="FFFFFF"/>
                </a:solidFill>
                <a:latin typeface="Segoe UI"/>
              </a:defRPr>
            </a:pPr>
            <a:endParaRPr/>
          </a:p>
          <a:p>
            <a:pPr algn="l">
              <a:spcBef>
                <a:spcPts val="1200"/>
              </a:spcBef>
              <a:spcAft>
                <a:spcPts val="200"/>
              </a:spcAft>
              <a:defRPr sz="1600" b="0">
                <a:solidFill>
                  <a:srgbClr val="FFD54F"/>
                </a:solidFill>
                <a:latin typeface="Segoe UI"/>
              </a:defRPr>
            </a:pPr>
            <a:r>
              <a:t>💡 Lesson learned: stateless Triage caused re-routing loops. Making it state-aware fixed it.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What Agent Framework Solved</a:t>
            </a:r>
          </a:p>
        </p:txBody>
      </p:sp>
      <p:sp>
        <p:nvSpPr>
          <p:cNvPr id="4" name="TextBox 3"/>
          <p:cNvSpPr txBox="1"/>
          <p:nvPr/>
        </p:nvSpPr>
        <p:spPr>
          <a:xfrm>
            <a:off x="731520" y="1371600"/>
            <a:ext cx="10515600" cy="4572000"/>
          </a:xfrm>
          <a:prstGeom prst="rect">
            <a:avLst/>
          </a:prstGeom>
          <a:noFill/>
        </p:spPr>
        <p:txBody>
          <a:bodyPr wrap="square">
            <a:spAutoFit/>
          </a:bodyPr>
          <a:lstStyle/>
          <a:p>
            <a:pPr algn="l">
              <a:defRPr sz="2800" b="1">
                <a:solidFill>
                  <a:srgbClr val="66BB6A"/>
                </a:solidFill>
                <a:latin typeface="Segoe UI"/>
              </a:defRPr>
            </a:pPr>
            <a:r>
              <a:t>Layer 1: ✅ Solved</a:t>
            </a:r>
          </a:p>
          <a:p>
            <a:pPr>
              <a:spcBef>
                <a:spcPts val="400"/>
              </a:spcBef>
              <a:spcAft>
                <a:spcPts val="200"/>
              </a:spcAft>
              <a:defRPr sz="2000" b="0">
                <a:solidFill>
                  <a:srgbClr val="66BB6A"/>
                </a:solidFill>
                <a:latin typeface="Segoe UI"/>
              </a:defRPr>
            </a:pPr>
            <a:r>
              <a:t>✅  LLM provider abstraction (IChatClient)</a:t>
            </a:r>
          </a:p>
          <a:p>
            <a:pPr>
              <a:spcBef>
                <a:spcPts val="400"/>
              </a:spcBef>
              <a:spcAft>
                <a:spcPts val="200"/>
              </a:spcAft>
              <a:defRPr sz="2000" b="0">
                <a:solidFill>
                  <a:srgbClr val="66BB6A"/>
                </a:solidFill>
                <a:latin typeface="Segoe UI"/>
              </a:defRPr>
            </a:pPr>
            <a:r>
              <a:t>✅  Agent structure &amp; instructions</a:t>
            </a:r>
          </a:p>
          <a:p>
            <a:pPr>
              <a:spcBef>
                <a:spcPts val="400"/>
              </a:spcBef>
              <a:spcAft>
                <a:spcPts val="200"/>
              </a:spcAft>
              <a:defRPr sz="2000" b="0">
                <a:solidFill>
                  <a:srgbClr val="66BB6A"/>
                </a:solidFill>
                <a:latin typeface="Segoe UI"/>
              </a:defRPr>
            </a:pPr>
            <a:r>
              <a:t>✅  Multi-agent orchestration</a:t>
            </a:r>
          </a:p>
          <a:p>
            <a:pPr>
              <a:spcBef>
                <a:spcPts val="400"/>
              </a:spcBef>
              <a:spcAft>
                <a:spcPts val="200"/>
              </a:spcAft>
              <a:defRPr sz="2000" b="0">
                <a:solidFill>
                  <a:srgbClr val="66BB6A"/>
                </a:solidFill>
                <a:latin typeface="Segoe UI"/>
              </a:defRPr>
            </a:pPr>
            <a:r>
              <a:t>✅  Tool calling protocol</a:t>
            </a:r>
          </a:p>
          <a:p>
            <a:pPr algn="l">
              <a:spcBef>
                <a:spcPts val="600"/>
              </a:spcBef>
              <a:spcAft>
                <a:spcPts val="200"/>
              </a:spcAft>
              <a:defRPr sz="1200" b="0">
                <a:solidFill>
                  <a:srgbClr val="FFFFFF"/>
                </a:solidFill>
                <a:latin typeface="Segoe UI"/>
              </a:defRPr>
            </a:pPr>
            <a:endParaRPr/>
          </a:p>
          <a:p>
            <a:pPr algn="l">
              <a:spcBef>
                <a:spcPts val="1600"/>
              </a:spcBef>
              <a:spcAft>
                <a:spcPts val="200"/>
              </a:spcAft>
              <a:defRPr sz="2400" b="1">
                <a:solidFill>
                  <a:srgbClr val="FFD54F"/>
                </a:solidFill>
                <a:latin typeface="Segoe UI"/>
              </a:defRPr>
            </a:pPr>
            <a:r>
              <a:t>But who builds the tools? Who manages the tool servers?</a:t>
            </a:r>
          </a:p>
          <a:p>
            <a:pPr algn="l">
              <a:spcBef>
                <a:spcPts val="400"/>
              </a:spcBef>
              <a:spcAft>
                <a:spcPts val="200"/>
              </a:spcAft>
              <a:defRPr sz="2200" b="0">
                <a:solidFill>
                  <a:srgbClr val="CCCCCC"/>
                </a:solidFill>
                <a:latin typeface="Segoe UI"/>
              </a:defRPr>
            </a:pPr>
            <a:r>
              <a:t>And who starts everything up and connects them together?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3D6B"/>
        </a:solidFill>
        <a:effectLst/>
      </p:bgPr>
    </p:bg>
    <p:spTree>
      <p:nvGrpSpPr>
        <p:cNvPr id="1" name=""/>
        <p:cNvGrpSpPr/>
        <p:nvPr/>
      </p:nvGrpSpPr>
      <p:grpSpPr>
        <a:xfrm>
          <a:off x="0" y="0"/>
          <a:ext cx="0" cy="0"/>
          <a:chOff x="0" y="0"/>
          <a:chExt cx="0" cy="0"/>
        </a:xfrm>
      </p:grpSpPr>
      <p:sp>
        <p:nvSpPr>
          <p:cNvPr id="2" name="Rectangle 1"/>
          <p:cNvSpPr/>
          <p:nvPr/>
        </p:nvSpPr>
        <p:spPr>
          <a:xfrm>
            <a:off x="0" y="2926080"/>
            <a:ext cx="2286000" cy="7315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0"/>
            <a:ext cx="10515600" cy="1097280"/>
          </a:xfrm>
          <a:prstGeom prst="rect">
            <a:avLst/>
          </a:prstGeom>
          <a:noFill/>
        </p:spPr>
        <p:txBody>
          <a:bodyPr wrap="square">
            <a:spAutoFit/>
          </a:bodyPr>
          <a:lstStyle/>
          <a:p>
            <a:pPr algn="l">
              <a:defRPr sz="4400" b="1">
                <a:solidFill>
                  <a:srgbClr val="FFFFFF"/>
                </a:solidFill>
                <a:latin typeface="Segoe UI"/>
              </a:defRPr>
            </a:pPr>
            <a:r>
              <a:t>Model Context Protocol</a:t>
            </a:r>
          </a:p>
        </p:txBody>
      </p:sp>
      <p:sp>
        <p:nvSpPr>
          <p:cNvPr id="4" name="TextBox 3"/>
          <p:cNvSpPr txBox="1"/>
          <p:nvPr/>
        </p:nvSpPr>
        <p:spPr>
          <a:xfrm>
            <a:off x="731520" y="3200400"/>
            <a:ext cx="10515600" cy="731520"/>
          </a:xfrm>
          <a:prstGeom prst="rect">
            <a:avLst/>
          </a:prstGeom>
          <a:noFill/>
        </p:spPr>
        <p:txBody>
          <a:bodyPr wrap="square">
            <a:spAutoFit/>
          </a:bodyPr>
          <a:lstStyle/>
          <a:p>
            <a:pPr algn="l">
              <a:defRPr sz="2200" b="0">
                <a:solidFill>
                  <a:srgbClr val="CCCCCC"/>
                </a:solidFill>
                <a:latin typeface="Segoe UI"/>
              </a:defRPr>
            </a:pPr>
            <a:r>
              <a:t>Simplifying the tool layer</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The Tool Problem</a:t>
            </a:r>
          </a:p>
        </p:txBody>
      </p:sp>
      <p:sp>
        <p:nvSpPr>
          <p:cNvPr id="4" name="TextBox 3"/>
          <p:cNvSpPr txBox="1"/>
          <p:nvPr/>
        </p:nvSpPr>
        <p:spPr>
          <a:xfrm>
            <a:off x="731520" y="1371600"/>
            <a:ext cx="4846320" cy="4572000"/>
          </a:xfrm>
          <a:prstGeom prst="rect">
            <a:avLst/>
          </a:prstGeom>
          <a:noFill/>
        </p:spPr>
        <p:txBody>
          <a:bodyPr wrap="square">
            <a:spAutoFit/>
          </a:bodyPr>
          <a:lstStyle/>
          <a:p>
            <a:pPr algn="l">
              <a:defRPr sz="2200" b="1">
                <a:solidFill>
                  <a:srgbClr val="FFFFFF"/>
                </a:solidFill>
                <a:latin typeface="Segoe UI"/>
              </a:defRPr>
            </a:pPr>
            <a:r>
              <a:t>Without MCP (inline tools):</a:t>
            </a:r>
          </a:p>
          <a:p>
            <a:pPr>
              <a:spcBef>
                <a:spcPts val="400"/>
              </a:spcBef>
              <a:spcAft>
                <a:spcPts val="200"/>
              </a:spcAft>
              <a:defRPr sz="1800" b="0">
                <a:solidFill>
                  <a:srgbClr val="CCCCCC"/>
                </a:solidFill>
                <a:latin typeface="Segoe UI"/>
              </a:defRPr>
            </a:pPr>
            <a:r>
              <a:t>❌  Tools coupled to agent code</a:t>
            </a:r>
          </a:p>
          <a:p>
            <a:pPr>
              <a:spcBef>
                <a:spcPts val="400"/>
              </a:spcBef>
              <a:spcAft>
                <a:spcPts val="200"/>
              </a:spcAft>
              <a:defRPr sz="1800" b="0">
                <a:solidFill>
                  <a:srgbClr val="CCCCCC"/>
                </a:solidFill>
                <a:latin typeface="Segoe UI"/>
              </a:defRPr>
            </a:pPr>
            <a:r>
              <a:t>❌  Not reusable across projects</a:t>
            </a:r>
          </a:p>
          <a:p>
            <a:pPr>
              <a:spcBef>
                <a:spcPts val="400"/>
              </a:spcBef>
              <a:spcAft>
                <a:spcPts val="200"/>
              </a:spcAft>
              <a:defRPr sz="1800" b="0">
                <a:solidFill>
                  <a:srgbClr val="CCCCCC"/>
                </a:solidFill>
                <a:latin typeface="Segoe UI"/>
              </a:defRPr>
            </a:pPr>
            <a:r>
              <a:t>❌  Can't be maintained by other teams</a:t>
            </a:r>
          </a:p>
          <a:p>
            <a:pPr>
              <a:spcBef>
                <a:spcPts val="400"/>
              </a:spcBef>
              <a:spcAft>
                <a:spcPts val="200"/>
              </a:spcAft>
              <a:defRPr sz="1800" b="0">
                <a:solidFill>
                  <a:srgbClr val="CCCCCC"/>
                </a:solidFill>
                <a:latin typeface="Segoe UI"/>
              </a:defRPr>
            </a:pPr>
            <a:r>
              <a:t>❌  Locked to one language</a:t>
            </a:r>
          </a:p>
          <a:p>
            <a:pPr>
              <a:spcBef>
                <a:spcPts val="400"/>
              </a:spcBef>
              <a:spcAft>
                <a:spcPts val="200"/>
              </a:spcAft>
              <a:defRPr sz="1800" b="0">
                <a:solidFill>
                  <a:srgbClr val="CCCCCC"/>
                </a:solidFill>
                <a:latin typeface="Segoe UI"/>
              </a:defRPr>
            </a:pPr>
            <a:r>
              <a:t>❌  Hard to test independently</a:t>
            </a:r>
          </a:p>
        </p:txBody>
      </p:sp>
      <p:sp>
        <p:nvSpPr>
          <p:cNvPr id="5" name="TextBox 4"/>
          <p:cNvSpPr txBox="1"/>
          <p:nvPr/>
        </p:nvSpPr>
        <p:spPr>
          <a:xfrm>
            <a:off x="5943600" y="1371600"/>
            <a:ext cx="5486400" cy="4572000"/>
          </a:xfrm>
          <a:prstGeom prst="rect">
            <a:avLst/>
          </a:prstGeom>
          <a:noFill/>
        </p:spPr>
        <p:txBody>
          <a:bodyPr wrap="square">
            <a:spAutoFit/>
          </a:bodyPr>
          <a:lstStyle/>
          <a:p>
            <a:pPr algn="l">
              <a:defRPr sz="2200" b="1">
                <a:solidFill>
                  <a:srgbClr val="00BCD4"/>
                </a:solidFill>
                <a:latin typeface="Segoe UI"/>
              </a:defRPr>
            </a:pPr>
            <a:r>
              <a:t>With MCP (external servers):</a:t>
            </a:r>
          </a:p>
          <a:p>
            <a:pPr>
              <a:spcBef>
                <a:spcPts val="400"/>
              </a:spcBef>
              <a:spcAft>
                <a:spcPts val="200"/>
              </a:spcAft>
              <a:defRPr sz="1800" b="0">
                <a:solidFill>
                  <a:srgbClr val="66BB6A"/>
                </a:solidFill>
                <a:latin typeface="Segoe UI"/>
              </a:defRPr>
            </a:pPr>
            <a:r>
              <a:t>✅  Tools live in separate servers</a:t>
            </a:r>
          </a:p>
          <a:p>
            <a:pPr>
              <a:spcBef>
                <a:spcPts val="400"/>
              </a:spcBef>
              <a:spcAft>
                <a:spcPts val="200"/>
              </a:spcAft>
              <a:defRPr sz="1800" b="0">
                <a:solidFill>
                  <a:srgbClr val="66BB6A"/>
                </a:solidFill>
                <a:latin typeface="Segoe UI"/>
              </a:defRPr>
            </a:pPr>
            <a:r>
              <a:t>✅  Reusable across any agent</a:t>
            </a:r>
          </a:p>
          <a:p>
            <a:pPr>
              <a:spcBef>
                <a:spcPts val="400"/>
              </a:spcBef>
              <a:spcAft>
                <a:spcPts val="200"/>
              </a:spcAft>
              <a:defRPr sz="1800" b="0">
                <a:solidFill>
                  <a:srgbClr val="66BB6A"/>
                </a:solidFill>
                <a:latin typeface="Segoe UI"/>
              </a:defRPr>
            </a:pPr>
            <a:r>
              <a:t>✅  Team-owned, independently deployed</a:t>
            </a:r>
          </a:p>
          <a:p>
            <a:pPr>
              <a:spcBef>
                <a:spcPts val="400"/>
              </a:spcBef>
              <a:spcAft>
                <a:spcPts val="200"/>
              </a:spcAft>
              <a:defRPr sz="1800" b="0">
                <a:solidFill>
                  <a:srgbClr val="66BB6A"/>
                </a:solidFill>
                <a:latin typeface="Segoe UI"/>
              </a:defRPr>
            </a:pPr>
            <a:r>
              <a:t>✅  Language-agnostic (Python, .NET, etc.)</a:t>
            </a:r>
          </a:p>
          <a:p>
            <a:pPr>
              <a:spcBef>
                <a:spcPts val="400"/>
              </a:spcBef>
              <a:spcAft>
                <a:spcPts val="200"/>
              </a:spcAft>
              <a:defRPr sz="1800" b="0">
                <a:solidFill>
                  <a:srgbClr val="66BB6A"/>
                </a:solidFill>
                <a:latin typeface="Segoe UI"/>
              </a:defRPr>
            </a:pPr>
            <a:r>
              <a:t>✅  Agent discovers tools at runtime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MCP: Plug-and-Play Tools for Agents</a:t>
            </a:r>
          </a:p>
        </p:txBody>
      </p:sp>
      <p:sp>
        <p:nvSpPr>
          <p:cNvPr id="4" name="TextBox 3"/>
          <p:cNvSpPr txBox="1"/>
          <p:nvPr/>
        </p:nvSpPr>
        <p:spPr>
          <a:xfrm>
            <a:off x="731520" y="1371600"/>
            <a:ext cx="10515600" cy="5029200"/>
          </a:xfrm>
          <a:prstGeom prst="rect">
            <a:avLst/>
          </a:prstGeom>
          <a:noFill/>
        </p:spPr>
        <p:txBody>
          <a:bodyPr wrap="square">
            <a:spAutoFit/>
          </a:bodyPr>
          <a:lstStyle/>
          <a:p>
            <a:pPr algn="l">
              <a:defRPr sz="2400" b="1">
                <a:solidFill>
                  <a:srgbClr val="FFFFFF"/>
                </a:solidFill>
                <a:latin typeface="Segoe UI"/>
              </a:defRPr>
            </a:pPr>
            <a:r>
              <a:t>Model Context Protocol — USB for AI tools</a:t>
            </a:r>
          </a:p>
          <a:p>
            <a:pPr>
              <a:spcBef>
                <a:spcPts val="400"/>
              </a:spcBef>
              <a:spcAft>
                <a:spcPts val="200"/>
              </a:spcAft>
              <a:defRPr sz="2000" b="0">
                <a:solidFill>
                  <a:srgbClr val="CCCCCC"/>
                </a:solidFill>
                <a:latin typeface="Segoe UI"/>
              </a:defRPr>
            </a:pPr>
            <a:r>
              <a:t>Open protocol for agent ↔ tool communication</a:t>
            </a:r>
          </a:p>
          <a:p>
            <a:pPr>
              <a:spcBef>
                <a:spcPts val="400"/>
              </a:spcBef>
              <a:spcAft>
                <a:spcPts val="200"/>
              </a:spcAft>
              <a:defRPr sz="2000" b="0">
                <a:solidFill>
                  <a:srgbClr val="CCCCCC"/>
                </a:solidFill>
                <a:latin typeface="Segoe UI"/>
              </a:defRPr>
            </a:pPr>
            <a:r>
              <a:t>Tools run as independent servers (any language, any host)</a:t>
            </a:r>
          </a:p>
          <a:p>
            <a:pPr>
              <a:spcBef>
                <a:spcPts val="400"/>
              </a:spcBef>
              <a:spcAft>
                <a:spcPts val="200"/>
              </a:spcAft>
              <a:defRPr sz="2000" b="0">
                <a:solidFill>
                  <a:srgbClr val="CCCCCC"/>
                </a:solidFill>
                <a:latin typeface="Segoe UI"/>
              </a:defRPr>
            </a:pPr>
            <a:r>
              <a:t>Agent discovers available tools at startup via McpClient</a:t>
            </a:r>
          </a:p>
          <a:p>
            <a:pPr>
              <a:spcBef>
                <a:spcPts val="400"/>
              </a:spcBef>
              <a:spcAft>
                <a:spcPts val="200"/>
              </a:spcAft>
              <a:defRPr sz="2000" b="0">
                <a:solidFill>
                  <a:srgbClr val="CCCCCC"/>
                </a:solidFill>
                <a:latin typeface="Segoe UI"/>
              </a:defRPr>
            </a:pPr>
            <a:r>
              <a:t>Standardized: tool name, description, parameters, return type</a:t>
            </a:r>
          </a:p>
          <a:p>
            <a:pPr>
              <a:spcBef>
                <a:spcPts val="400"/>
              </a:spcBef>
              <a:spcAft>
                <a:spcPts val="200"/>
              </a:spcAft>
              <a:defRPr sz="2000" b="0">
                <a:solidFill>
                  <a:srgbClr val="CCCCCC"/>
                </a:solidFill>
                <a:latin typeface="Segoe UI"/>
              </a:defRPr>
            </a:pPr>
            <a:r>
              <a:t>Growing ecosystem: MCP Server Registry (databases, APIs, file systems…)</a:t>
            </a:r>
          </a:p>
          <a:p>
            <a:pPr algn="l">
              <a:spcBef>
                <a:spcPts val="600"/>
              </a:spcBef>
              <a:spcAft>
                <a:spcPts val="200"/>
              </a:spcAft>
              <a:defRPr sz="800" b="0">
                <a:solidFill>
                  <a:srgbClr val="FFFFFF"/>
                </a:solidFill>
                <a:latin typeface="Segoe UI"/>
              </a:defRPr>
            </a:pPr>
            <a:endParaRPr/>
          </a:p>
          <a:p>
            <a:pPr algn="l">
              <a:spcBef>
                <a:spcPts val="1200"/>
              </a:spcBef>
              <a:spcAft>
                <a:spcPts val="200"/>
              </a:spcAft>
              <a:defRPr sz="2000" b="1">
                <a:solidFill>
                  <a:srgbClr val="00BCD4"/>
                </a:solidFill>
                <a:latin typeface="Segoe UI"/>
              </a:defRPr>
            </a:pPr>
            <a:r>
              <a:t>When to use MCP vs inline:</a:t>
            </a:r>
          </a:p>
          <a:p>
            <a:pPr>
              <a:spcBef>
                <a:spcPts val="400"/>
              </a:spcBef>
              <a:spcAft>
                <a:spcPts val="200"/>
              </a:spcAft>
              <a:defRPr sz="1800" b="0">
                <a:solidFill>
                  <a:srgbClr val="CCCCCC"/>
                </a:solidFill>
                <a:latin typeface="Segoe UI"/>
              </a:defRPr>
            </a:pPr>
            <a:r>
              <a:t>MCP → complex, reusable, team-owned, cross-language</a:t>
            </a:r>
          </a:p>
          <a:p>
            <a:pPr>
              <a:spcBef>
                <a:spcPts val="400"/>
              </a:spcBef>
              <a:spcAft>
                <a:spcPts val="200"/>
              </a:spcAft>
              <a:defRPr sz="1800" b="0">
                <a:solidFill>
                  <a:srgbClr val="CCCCCC"/>
                </a:solidFill>
                <a:latin typeface="Segoe UI"/>
              </a:defRPr>
            </a:pPr>
            <a:r>
              <a:t>Inline → trivial, agent-specific, avoid network hop</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Two MCP Servers in Action</a:t>
            </a:r>
          </a:p>
        </p:txBody>
      </p:sp>
      <p:sp>
        <p:nvSpPr>
          <p:cNvPr id="4" name="TextBox 3"/>
          <p:cNvSpPr txBox="1"/>
          <p:nvPr/>
        </p:nvSpPr>
        <p:spPr>
          <a:xfrm>
            <a:off x="731520" y="1371600"/>
            <a:ext cx="4846320" cy="1828800"/>
          </a:xfrm>
          <a:prstGeom prst="rect">
            <a:avLst/>
          </a:prstGeom>
          <a:noFill/>
        </p:spPr>
        <p:txBody>
          <a:bodyPr wrap="square">
            <a:spAutoFit/>
          </a:bodyPr>
          <a:lstStyle/>
          <a:p>
            <a:pPr algn="l">
              <a:defRPr sz="2200" b="1">
                <a:solidFill>
                  <a:srgbClr val="00BCD4"/>
                </a:solidFill>
                <a:latin typeface="Segoe UI"/>
              </a:defRPr>
            </a:pPr>
            <a:r>
              <a:t>MarkItDown MCP (Python)</a:t>
            </a:r>
          </a:p>
          <a:p>
            <a:pPr>
              <a:spcBef>
                <a:spcPts val="400"/>
              </a:spcBef>
              <a:spcAft>
                <a:spcPts val="200"/>
              </a:spcAft>
              <a:defRPr sz="1800" b="0">
                <a:solidFill>
                  <a:srgbClr val="CCCCCC"/>
                </a:solidFill>
                <a:latin typeface="Segoe UI"/>
              </a:defRPr>
            </a:pPr>
            <a:r>
              <a:t>PDF, DOCX, web URLs → markdown</a:t>
            </a:r>
          </a:p>
          <a:p>
            <a:pPr>
              <a:spcBef>
                <a:spcPts val="400"/>
              </a:spcBef>
              <a:spcAft>
                <a:spcPts val="200"/>
              </a:spcAft>
              <a:defRPr sz="1800" b="0">
                <a:solidFill>
                  <a:srgbClr val="CCCCCC"/>
                </a:solidFill>
                <a:latin typeface="Segoe UI"/>
              </a:defRPr>
            </a:pPr>
            <a:r>
              <a:t>Runs in Docker container</a:t>
            </a:r>
          </a:p>
          <a:p>
            <a:pPr>
              <a:spcBef>
                <a:spcPts val="400"/>
              </a:spcBef>
              <a:spcAft>
                <a:spcPts val="200"/>
              </a:spcAft>
              <a:defRPr sz="1800" b="0">
                <a:solidFill>
                  <a:srgbClr val="CCCCCC"/>
                </a:solidFill>
                <a:latin typeface="Segoe UI"/>
              </a:defRPr>
            </a:pPr>
            <a:r>
              <a:t>Maintained by Microsoft, reusable</a:t>
            </a:r>
          </a:p>
        </p:txBody>
      </p:sp>
      <p:sp>
        <p:nvSpPr>
          <p:cNvPr id="5" name="TextBox 4"/>
          <p:cNvSpPr txBox="1"/>
          <p:nvPr/>
        </p:nvSpPr>
        <p:spPr>
          <a:xfrm>
            <a:off x="5943600" y="1371600"/>
            <a:ext cx="5486400" cy="1828800"/>
          </a:xfrm>
          <a:prstGeom prst="rect">
            <a:avLst/>
          </a:prstGeom>
          <a:noFill/>
        </p:spPr>
        <p:txBody>
          <a:bodyPr wrap="square">
            <a:spAutoFit/>
          </a:bodyPr>
          <a:lstStyle/>
          <a:p>
            <a:pPr algn="l">
              <a:defRPr sz="2200" b="1">
                <a:solidFill>
                  <a:srgbClr val="4FC3F7"/>
                </a:solidFill>
                <a:latin typeface="Segoe UI"/>
              </a:defRPr>
            </a:pPr>
            <a:r>
              <a:t>InterviewData MCP (.NET)</a:t>
            </a:r>
          </a:p>
          <a:p>
            <a:pPr>
              <a:spcBef>
                <a:spcPts val="400"/>
              </a:spcBef>
              <a:spcAft>
                <a:spcPts val="200"/>
              </a:spcAft>
              <a:defRPr sz="1800" b="0">
                <a:solidFill>
                  <a:srgbClr val="CCCCCC"/>
                </a:solidFill>
                <a:latin typeface="Segoe UI"/>
              </a:defRPr>
            </a:pPr>
            <a:r>
              <a:t>Session storage via SQLite + EF Core</a:t>
            </a:r>
          </a:p>
          <a:p>
            <a:pPr>
              <a:spcBef>
                <a:spcPts val="400"/>
              </a:spcBef>
              <a:spcAft>
                <a:spcPts val="200"/>
              </a:spcAft>
              <a:defRPr sz="1800" b="0">
                <a:solidFill>
                  <a:srgbClr val="CCCCCC"/>
                </a:solidFill>
                <a:latin typeface="Segoe UI"/>
              </a:defRPr>
            </a:pPr>
            <a:r>
              <a:t>Custom-built for this app</a:t>
            </a:r>
          </a:p>
          <a:p>
            <a:pPr>
              <a:spcBef>
                <a:spcPts val="400"/>
              </a:spcBef>
              <a:spcAft>
                <a:spcPts val="200"/>
              </a:spcAft>
              <a:defRPr sz="1800" b="0">
                <a:solidFill>
                  <a:srgbClr val="CCCCCC"/>
                </a:solidFill>
                <a:latin typeface="Segoe UI"/>
              </a:defRPr>
            </a:pPr>
            <a:r>
              <a:t>Uses ModelContextProtocol.Server SDK</a:t>
            </a:r>
          </a:p>
        </p:txBody>
      </p:sp>
      <p:sp>
        <p:nvSpPr>
          <p:cNvPr id="6" name="Rounded Rectangle 5"/>
          <p:cNvSpPr/>
          <p:nvPr/>
        </p:nvSpPr>
        <p:spPr>
          <a:xfrm>
            <a:off x="731520" y="3474720"/>
            <a:ext cx="10515600" cy="274320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rtlCol="0" anchor="ctr"/>
          <a:lstStyle/>
          <a:p>
            <a:pPr>
              <a:spcBef>
                <a:spcPts val="0"/>
              </a:spcBef>
              <a:spcAft>
                <a:spcPts val="0"/>
              </a:spcAft>
              <a:defRPr sz="1400">
                <a:solidFill>
                  <a:srgbClr val="E0E0E0"/>
                </a:solidFill>
                <a:latin typeface="Cascadia Code"/>
              </a:defRPr>
            </a:pPr>
            <a:r>
              <a:rPr dirty="0"/>
              <a:t>[</a:t>
            </a:r>
            <a:r>
              <a:rPr dirty="0" err="1"/>
              <a:t>McpServerToolType</a:t>
            </a:r>
            <a:r>
              <a:rPr dirty="0"/>
              <a:t>]</a:t>
            </a:r>
          </a:p>
          <a:p>
            <a:pPr>
              <a:spcBef>
                <a:spcPts val="0"/>
              </a:spcBef>
              <a:spcAft>
                <a:spcPts val="0"/>
              </a:spcAft>
              <a:defRPr sz="1400">
                <a:solidFill>
                  <a:srgbClr val="E0E0E0"/>
                </a:solidFill>
                <a:latin typeface="Cascadia Code"/>
              </a:defRPr>
            </a:pPr>
            <a:r>
              <a:rPr dirty="0"/>
              <a:t>public class </a:t>
            </a:r>
            <a:r>
              <a:rPr dirty="0" err="1"/>
              <a:t>InterviewSessionTool</a:t>
            </a:r>
            <a:r>
              <a:rPr dirty="0"/>
              <a:t>(</a:t>
            </a:r>
            <a:r>
              <a:rPr dirty="0" err="1"/>
              <a:t>IInterviewSessionRepository</a:t>
            </a:r>
            <a:r>
              <a:rPr dirty="0"/>
              <a:t> repo) : </a:t>
            </a:r>
            <a:r>
              <a:rPr dirty="0" err="1"/>
              <a:t>IInterviewSessionTool</a:t>
            </a:r>
            <a:endParaRPr dirty="0"/>
          </a:p>
          <a:p>
            <a:pPr>
              <a:spcBef>
                <a:spcPts val="0"/>
              </a:spcBef>
              <a:spcAft>
                <a:spcPts val="0"/>
              </a:spcAft>
              <a:defRPr sz="1400">
                <a:solidFill>
                  <a:srgbClr val="E0E0E0"/>
                </a:solidFill>
                <a:latin typeface="Cascadia Code"/>
              </a:defRPr>
            </a:pPr>
            <a:r>
              <a:rPr dirty="0"/>
              <a:t>{</a:t>
            </a:r>
          </a:p>
          <a:p>
            <a:pPr>
              <a:spcBef>
                <a:spcPts val="0"/>
              </a:spcBef>
              <a:spcAft>
                <a:spcPts val="0"/>
              </a:spcAft>
              <a:defRPr sz="1400">
                <a:solidFill>
                  <a:srgbClr val="E0E0E0"/>
                </a:solidFill>
                <a:latin typeface="Cascadia Code"/>
              </a:defRPr>
            </a:pPr>
            <a:r>
              <a:rPr dirty="0"/>
              <a:t>    [</a:t>
            </a:r>
            <a:r>
              <a:rPr dirty="0" err="1"/>
              <a:t>McpServerTool</a:t>
            </a:r>
            <a:r>
              <a:rPr dirty="0"/>
              <a:t>(Name = "</a:t>
            </a:r>
            <a:r>
              <a:rPr dirty="0" err="1"/>
              <a:t>add_interview_session</a:t>
            </a:r>
            <a:r>
              <a:rPr dirty="0"/>
              <a:t>")]</a:t>
            </a:r>
          </a:p>
          <a:p>
            <a:pPr>
              <a:spcBef>
                <a:spcPts val="0"/>
              </a:spcBef>
              <a:spcAft>
                <a:spcPts val="0"/>
              </a:spcAft>
              <a:defRPr sz="1400">
                <a:solidFill>
                  <a:srgbClr val="E0E0E0"/>
                </a:solidFill>
                <a:latin typeface="Cascadia Code"/>
              </a:defRPr>
            </a:pPr>
            <a:r>
              <a:rPr dirty="0"/>
              <a:t>    [Description("Adds an interview session to database.")]</a:t>
            </a:r>
          </a:p>
          <a:p>
            <a:pPr>
              <a:spcBef>
                <a:spcPts val="0"/>
              </a:spcBef>
              <a:spcAft>
                <a:spcPts val="0"/>
              </a:spcAft>
              <a:defRPr sz="1400">
                <a:solidFill>
                  <a:srgbClr val="E0E0E0"/>
                </a:solidFill>
                <a:latin typeface="Cascadia Code"/>
              </a:defRPr>
            </a:pPr>
            <a:r>
              <a:rPr dirty="0"/>
              <a:t>    public async Task&lt;</a:t>
            </a:r>
            <a:r>
              <a:rPr dirty="0" err="1"/>
              <a:t>InterviewSession</a:t>
            </a:r>
            <a:r>
              <a:rPr dirty="0"/>
              <a:t>&gt; </a:t>
            </a:r>
            <a:r>
              <a:rPr dirty="0" err="1"/>
              <a:t>AddInterviewSessionAsync</a:t>
            </a:r>
            <a:r>
              <a:rPr dirty="0"/>
              <a:t>(</a:t>
            </a:r>
          </a:p>
          <a:p>
            <a:pPr>
              <a:spcBef>
                <a:spcPts val="0"/>
              </a:spcBef>
              <a:spcAft>
                <a:spcPts val="0"/>
              </a:spcAft>
              <a:defRPr sz="1400">
                <a:solidFill>
                  <a:srgbClr val="E0E0E0"/>
                </a:solidFill>
                <a:latin typeface="Cascadia Code"/>
              </a:defRPr>
            </a:pPr>
            <a:r>
              <a:rPr dirty="0"/>
              <a:t>        [Description("The interview session details")] </a:t>
            </a:r>
            <a:r>
              <a:rPr dirty="0" err="1"/>
              <a:t>InterviewSession</a:t>
            </a:r>
            <a:r>
              <a:rPr dirty="0"/>
              <a:t> record</a:t>
            </a:r>
          </a:p>
          <a:p>
            <a:pPr>
              <a:spcBef>
                <a:spcPts val="0"/>
              </a:spcBef>
              <a:spcAft>
                <a:spcPts val="0"/>
              </a:spcAft>
              <a:defRPr sz="1400">
                <a:solidFill>
                  <a:srgbClr val="E0E0E0"/>
                </a:solidFill>
                <a:latin typeface="Cascadia Code"/>
              </a:defRPr>
            </a:pPr>
            <a:r>
              <a:rPr dirty="0"/>
              <a:t>    )</a:t>
            </a:r>
          </a:p>
          <a:p>
            <a:pPr>
              <a:spcBef>
                <a:spcPts val="0"/>
              </a:spcBef>
              <a:spcAft>
                <a:spcPts val="0"/>
              </a:spcAft>
              <a:defRPr sz="1400">
                <a:solidFill>
                  <a:srgbClr val="E0E0E0"/>
                </a:solidFill>
                <a:latin typeface="Cascadia Code"/>
              </a:defRPr>
            </a:pPr>
            <a:r>
              <a:rPr dirty="0"/>
              <a:t>    {</a:t>
            </a:r>
          </a:p>
          <a:p>
            <a:pPr>
              <a:spcBef>
                <a:spcPts val="0"/>
              </a:spcBef>
              <a:spcAft>
                <a:spcPts val="0"/>
              </a:spcAft>
              <a:defRPr sz="1400">
                <a:solidFill>
                  <a:srgbClr val="E0E0E0"/>
                </a:solidFill>
                <a:latin typeface="Cascadia Code"/>
              </a:defRPr>
            </a:pPr>
            <a:r>
              <a:rPr dirty="0"/>
              <a:t>        return await </a:t>
            </a:r>
            <a:r>
              <a:rPr dirty="0" err="1"/>
              <a:t>repo.AddInterviewSessionAsync</a:t>
            </a:r>
            <a:r>
              <a:rPr dirty="0"/>
              <a:t>(record);</a:t>
            </a:r>
          </a:p>
          <a:p>
            <a:pPr>
              <a:spcBef>
                <a:spcPts val="0"/>
              </a:spcBef>
              <a:spcAft>
                <a:spcPts val="0"/>
              </a:spcAft>
              <a:defRPr sz="1400">
                <a:solidFill>
                  <a:srgbClr val="E0E0E0"/>
                </a:solidFill>
                <a:latin typeface="Cascadia Code"/>
              </a:defRPr>
            </a:pPr>
            <a:r>
              <a:rPr dirty="0"/>
              <a:t>    }</a:t>
            </a:r>
          </a:p>
          <a:p>
            <a:pPr>
              <a:spcBef>
                <a:spcPts val="0"/>
              </a:spcBef>
              <a:spcAft>
                <a:spcPts val="0"/>
              </a:spcAft>
              <a:defRPr sz="1400">
                <a:solidFill>
                  <a:srgbClr val="E0E0E0"/>
                </a:solidFill>
                <a:latin typeface="Cascadia Code"/>
              </a:defRPr>
            </a:pPr>
            <a:r>
              <a:rPr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What MCP Solved</a:t>
            </a:r>
          </a:p>
        </p:txBody>
      </p:sp>
      <p:sp>
        <p:nvSpPr>
          <p:cNvPr id="4" name="TextBox 3"/>
          <p:cNvSpPr txBox="1"/>
          <p:nvPr/>
        </p:nvSpPr>
        <p:spPr>
          <a:xfrm>
            <a:off x="731520" y="1371600"/>
            <a:ext cx="10515600" cy="4572000"/>
          </a:xfrm>
          <a:prstGeom prst="rect">
            <a:avLst/>
          </a:prstGeom>
          <a:noFill/>
        </p:spPr>
        <p:txBody>
          <a:bodyPr wrap="square">
            <a:spAutoFit/>
          </a:bodyPr>
          <a:lstStyle/>
          <a:p>
            <a:pPr algn="l">
              <a:defRPr sz="2800" b="1">
                <a:solidFill>
                  <a:srgbClr val="66BB6A"/>
                </a:solidFill>
                <a:latin typeface="Segoe UI"/>
              </a:defRPr>
            </a:pPr>
            <a:r>
              <a:t>Layer 2: ✅ Solved</a:t>
            </a:r>
          </a:p>
          <a:p>
            <a:pPr>
              <a:spcBef>
                <a:spcPts val="400"/>
              </a:spcBef>
              <a:spcAft>
                <a:spcPts val="200"/>
              </a:spcAft>
              <a:defRPr sz="2000" b="0">
                <a:solidFill>
                  <a:srgbClr val="66BB6A"/>
                </a:solidFill>
                <a:latin typeface="Segoe UI"/>
              </a:defRPr>
            </a:pPr>
            <a:r>
              <a:t>✅  Tool reusability across projects</a:t>
            </a:r>
          </a:p>
          <a:p>
            <a:pPr>
              <a:spcBef>
                <a:spcPts val="400"/>
              </a:spcBef>
              <a:spcAft>
                <a:spcPts val="200"/>
              </a:spcAft>
              <a:defRPr sz="2000" b="0">
                <a:solidFill>
                  <a:srgbClr val="66BB6A"/>
                </a:solidFill>
                <a:latin typeface="Segoe UI"/>
              </a:defRPr>
            </a:pPr>
            <a:r>
              <a:t>✅  Language flexibility (Python + .NET in one app)</a:t>
            </a:r>
          </a:p>
          <a:p>
            <a:pPr>
              <a:spcBef>
                <a:spcPts val="400"/>
              </a:spcBef>
              <a:spcAft>
                <a:spcPts val="200"/>
              </a:spcAft>
              <a:defRPr sz="2000" b="0">
                <a:solidFill>
                  <a:srgbClr val="66BB6A"/>
                </a:solidFill>
                <a:latin typeface="Segoe UI"/>
              </a:defRPr>
            </a:pPr>
            <a:r>
              <a:t>✅  Independent deployment &amp; testing</a:t>
            </a:r>
          </a:p>
          <a:p>
            <a:pPr>
              <a:spcBef>
                <a:spcPts val="400"/>
              </a:spcBef>
              <a:spcAft>
                <a:spcPts val="200"/>
              </a:spcAft>
              <a:defRPr sz="2000" b="0">
                <a:solidFill>
                  <a:srgbClr val="66BB6A"/>
                </a:solidFill>
                <a:latin typeface="Segoe UI"/>
              </a:defRPr>
            </a:pPr>
            <a:r>
              <a:t>✅  Runtime tool discovery</a:t>
            </a:r>
          </a:p>
          <a:p>
            <a:pPr algn="l">
              <a:spcBef>
                <a:spcPts val="600"/>
              </a:spcBef>
              <a:spcAft>
                <a:spcPts val="200"/>
              </a:spcAft>
              <a:defRPr sz="1200" b="0">
                <a:solidFill>
                  <a:srgbClr val="FFFFFF"/>
                </a:solidFill>
                <a:latin typeface="Segoe UI"/>
              </a:defRPr>
            </a:pPr>
            <a:endParaRPr/>
          </a:p>
          <a:p>
            <a:pPr algn="l">
              <a:spcBef>
                <a:spcPts val="1600"/>
              </a:spcBef>
              <a:spcAft>
                <a:spcPts val="200"/>
              </a:spcAft>
              <a:defRPr sz="2400" b="1">
                <a:solidFill>
                  <a:srgbClr val="FFD54F"/>
                </a:solidFill>
                <a:latin typeface="Segoe UI"/>
              </a:defRPr>
            </a:pPr>
            <a:r>
              <a:t>But now we have 5+ services to start, configure, and connect.</a:t>
            </a:r>
          </a:p>
          <a:p>
            <a:pPr algn="l">
              <a:spcBef>
                <a:spcPts val="600"/>
              </a:spcBef>
              <a:spcAft>
                <a:spcPts val="200"/>
              </a:spcAft>
              <a:defRPr sz="2000" b="0">
                <a:solidFill>
                  <a:srgbClr val="CCCCCC"/>
                </a:solidFill>
                <a:latin typeface="Segoe UI"/>
              </a:defRPr>
            </a:pPr>
            <a:r>
              <a:t>Agent, WebUI, MarkItDown MCP, InterviewData MCP, SQLite, LLM provider…</a:t>
            </a:r>
          </a:p>
          <a:p>
            <a:pPr algn="l">
              <a:spcBef>
                <a:spcPts val="800"/>
              </a:spcBef>
              <a:spcAft>
                <a:spcPts val="200"/>
              </a:spcAft>
              <a:defRPr sz="2200" b="1">
                <a:solidFill>
                  <a:srgbClr val="FFD54F"/>
                </a:solidFill>
                <a:latin typeface="Segoe UI"/>
              </a:defRPr>
            </a:pPr>
            <a:r>
              <a:t>Who orchestrates all of this?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3D6B"/>
        </a:solidFill>
        <a:effectLst/>
      </p:bgPr>
    </p:bg>
    <p:spTree>
      <p:nvGrpSpPr>
        <p:cNvPr id="1" name=""/>
        <p:cNvGrpSpPr/>
        <p:nvPr/>
      </p:nvGrpSpPr>
      <p:grpSpPr>
        <a:xfrm>
          <a:off x="0" y="0"/>
          <a:ext cx="0" cy="0"/>
          <a:chOff x="0" y="0"/>
          <a:chExt cx="0" cy="0"/>
        </a:xfrm>
      </p:grpSpPr>
      <p:sp>
        <p:nvSpPr>
          <p:cNvPr id="2" name="Rectangle 1"/>
          <p:cNvSpPr/>
          <p:nvPr/>
        </p:nvSpPr>
        <p:spPr>
          <a:xfrm>
            <a:off x="0" y="2926080"/>
            <a:ext cx="2286000" cy="7315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0"/>
            <a:ext cx="10515600" cy="769441"/>
          </a:xfrm>
          <a:prstGeom prst="rect">
            <a:avLst/>
          </a:prstGeom>
          <a:noFill/>
        </p:spPr>
        <p:txBody>
          <a:bodyPr wrap="square">
            <a:spAutoFit/>
          </a:bodyPr>
          <a:lstStyle/>
          <a:p>
            <a:pPr algn="l">
              <a:defRPr sz="4400" b="1">
                <a:solidFill>
                  <a:srgbClr val="FFFFFF"/>
                </a:solidFill>
                <a:latin typeface="Segoe UI"/>
              </a:defRPr>
            </a:pPr>
            <a:r>
              <a:rPr dirty="0"/>
              <a:t>Aspire</a:t>
            </a:r>
          </a:p>
        </p:txBody>
      </p:sp>
      <p:sp>
        <p:nvSpPr>
          <p:cNvPr id="4" name="TextBox 3"/>
          <p:cNvSpPr txBox="1"/>
          <p:nvPr/>
        </p:nvSpPr>
        <p:spPr>
          <a:xfrm>
            <a:off x="731520" y="3200400"/>
            <a:ext cx="10515600" cy="731520"/>
          </a:xfrm>
          <a:prstGeom prst="rect">
            <a:avLst/>
          </a:prstGeom>
          <a:noFill/>
        </p:spPr>
        <p:txBody>
          <a:bodyPr wrap="square">
            <a:spAutoFit/>
          </a:bodyPr>
          <a:lstStyle/>
          <a:p>
            <a:pPr algn="l">
              <a:defRPr sz="2200" b="0">
                <a:solidFill>
                  <a:srgbClr val="CCCCCC"/>
                </a:solidFill>
                <a:latin typeface="Segoe UI"/>
              </a:defRPr>
            </a:pPr>
            <a:r>
              <a:t>Simplifying everything else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The Orchestration Problem</a:t>
            </a:r>
          </a:p>
        </p:txBody>
      </p:sp>
      <p:sp>
        <p:nvSpPr>
          <p:cNvPr id="4" name="TextBox 3"/>
          <p:cNvSpPr txBox="1"/>
          <p:nvPr/>
        </p:nvSpPr>
        <p:spPr>
          <a:xfrm>
            <a:off x="731520" y="1371600"/>
            <a:ext cx="10515600" cy="5029200"/>
          </a:xfrm>
          <a:prstGeom prst="rect">
            <a:avLst/>
          </a:prstGeom>
          <a:noFill/>
        </p:spPr>
        <p:txBody>
          <a:bodyPr wrap="square">
            <a:spAutoFit/>
          </a:bodyPr>
          <a:lstStyle/>
          <a:p>
            <a:pPr algn="l">
              <a:defRPr sz="2400" b="1">
                <a:solidFill>
                  <a:srgbClr val="FFFFFF"/>
                </a:solidFill>
                <a:latin typeface="Segoe UI"/>
              </a:defRPr>
            </a:pPr>
            <a:r>
              <a:t>Your services right now:</a:t>
            </a:r>
          </a:p>
          <a:p>
            <a:pPr>
              <a:spcBef>
                <a:spcPts val="400"/>
              </a:spcBef>
              <a:spcAft>
                <a:spcPts val="200"/>
              </a:spcAft>
              <a:defRPr sz="1800" b="0">
                <a:solidFill>
                  <a:srgbClr val="CCCCCC"/>
                </a:solidFill>
                <a:latin typeface="Segoe UI"/>
              </a:defRPr>
            </a:pPr>
            <a:r>
              <a:t>InterviewCoach.Agent  —  ASP.NET Core + Agent Framework</a:t>
            </a:r>
          </a:p>
          <a:p>
            <a:pPr>
              <a:spcBef>
                <a:spcPts val="400"/>
              </a:spcBef>
              <a:spcAft>
                <a:spcPts val="200"/>
              </a:spcAft>
              <a:defRPr sz="1800" b="0">
                <a:solidFill>
                  <a:srgbClr val="CCCCCC"/>
                </a:solidFill>
                <a:latin typeface="Segoe UI"/>
              </a:defRPr>
            </a:pPr>
            <a:r>
              <a:t>InterviewCoach.WebUI  —  Blazor chat interface</a:t>
            </a:r>
          </a:p>
          <a:p>
            <a:pPr>
              <a:spcBef>
                <a:spcPts val="400"/>
              </a:spcBef>
              <a:spcAft>
                <a:spcPts val="200"/>
              </a:spcAft>
              <a:defRPr sz="1800" b="0">
                <a:solidFill>
                  <a:srgbClr val="CCCCCC"/>
                </a:solidFill>
                <a:latin typeface="Segoe UI"/>
              </a:defRPr>
            </a:pPr>
            <a:r>
              <a:t>MCP.MarkItDown  —  Python Docker container</a:t>
            </a:r>
          </a:p>
          <a:p>
            <a:pPr>
              <a:spcBef>
                <a:spcPts val="400"/>
              </a:spcBef>
              <a:spcAft>
                <a:spcPts val="200"/>
              </a:spcAft>
              <a:defRPr sz="1800" b="0">
                <a:solidFill>
                  <a:srgbClr val="CCCCCC"/>
                </a:solidFill>
                <a:latin typeface="Segoe UI"/>
              </a:defRPr>
            </a:pPr>
            <a:r>
              <a:t>MCP.InterviewData  —  .NET MCP server</a:t>
            </a:r>
          </a:p>
          <a:p>
            <a:pPr>
              <a:spcBef>
                <a:spcPts val="400"/>
              </a:spcBef>
              <a:spcAft>
                <a:spcPts val="200"/>
              </a:spcAft>
              <a:defRPr sz="1800" b="0">
                <a:solidFill>
                  <a:srgbClr val="CCCCCC"/>
                </a:solidFill>
                <a:latin typeface="Segoe UI"/>
              </a:defRPr>
            </a:pPr>
            <a:r>
              <a:t>SQLite  —  Session database</a:t>
            </a:r>
          </a:p>
          <a:p>
            <a:pPr>
              <a:spcBef>
                <a:spcPts val="400"/>
              </a:spcBef>
              <a:spcAft>
                <a:spcPts val="200"/>
              </a:spcAft>
              <a:defRPr sz="1800" b="0">
                <a:solidFill>
                  <a:srgbClr val="CCCCCC"/>
                </a:solidFill>
                <a:latin typeface="Segoe UI"/>
              </a:defRPr>
            </a:pPr>
            <a:r>
              <a:t>LLM Provider  —  Foundry / Azure OpenAI / GitHub Models</a:t>
            </a:r>
          </a:p>
          <a:p>
            <a:pPr algn="l">
              <a:spcBef>
                <a:spcPts val="600"/>
              </a:spcBef>
              <a:spcAft>
                <a:spcPts val="200"/>
              </a:spcAft>
              <a:defRPr sz="800" b="0">
                <a:solidFill>
                  <a:srgbClr val="FFFFFF"/>
                </a:solidFill>
                <a:latin typeface="Segoe UI"/>
              </a:defRPr>
            </a:pPr>
            <a:endParaRPr/>
          </a:p>
          <a:p>
            <a:pPr algn="l">
              <a:spcBef>
                <a:spcPts val="1200"/>
              </a:spcBef>
              <a:spcAft>
                <a:spcPts val="200"/>
              </a:spcAft>
              <a:defRPr sz="2000" b="0">
                <a:solidFill>
                  <a:srgbClr val="FFD54F"/>
                </a:solidFill>
                <a:latin typeface="Segoe UI"/>
              </a:defRPr>
            </a:pPr>
            <a:r>
              <a:t>Starting them all, wiring URLs, managing health,</a:t>
            </a:r>
            <a:br/>
            <a:r>
              <a:t>seeing distributed traces across agent → MCP → LLM calls…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584775"/>
          </a:xfrm>
          <a:prstGeom prst="rect">
            <a:avLst/>
          </a:prstGeom>
          <a:noFill/>
        </p:spPr>
        <p:txBody>
          <a:bodyPr wrap="square">
            <a:spAutoFit/>
          </a:bodyPr>
          <a:lstStyle/>
          <a:p>
            <a:pPr algn="l">
              <a:defRPr sz="3200" b="1">
                <a:solidFill>
                  <a:srgbClr val="00BCD4"/>
                </a:solidFill>
                <a:latin typeface="Segoe UI"/>
              </a:defRPr>
            </a:pPr>
            <a:r>
              <a:rPr dirty="0"/>
              <a:t>What is Aspire?</a:t>
            </a:r>
          </a:p>
        </p:txBody>
      </p:sp>
      <p:sp>
        <p:nvSpPr>
          <p:cNvPr id="4" name="TextBox 3"/>
          <p:cNvSpPr txBox="1"/>
          <p:nvPr/>
        </p:nvSpPr>
        <p:spPr>
          <a:xfrm>
            <a:off x="731520" y="1371600"/>
            <a:ext cx="10515600" cy="2744341"/>
          </a:xfrm>
          <a:prstGeom prst="rect">
            <a:avLst/>
          </a:prstGeom>
          <a:noFill/>
        </p:spPr>
        <p:txBody>
          <a:bodyPr wrap="square">
            <a:spAutoFit/>
          </a:bodyPr>
          <a:lstStyle/>
          <a:p>
            <a:pPr algn="l">
              <a:defRPr sz="2400" b="1">
                <a:solidFill>
                  <a:srgbClr val="FFFFFF"/>
                </a:solidFill>
                <a:latin typeface="Segoe UI"/>
              </a:defRPr>
            </a:pPr>
            <a:r>
              <a:rPr dirty="0"/>
              <a:t>Cloud-native</a:t>
            </a:r>
            <a:r>
              <a:rPr lang="en-GB" dirty="0"/>
              <a:t> </a:t>
            </a:r>
            <a:r>
              <a:rPr dirty="0"/>
              <a:t>— batteries included</a:t>
            </a:r>
          </a:p>
          <a:p>
            <a:pPr>
              <a:spcBef>
                <a:spcPts val="400"/>
              </a:spcBef>
              <a:spcAft>
                <a:spcPts val="200"/>
              </a:spcAft>
              <a:defRPr sz="2000" b="0">
                <a:solidFill>
                  <a:srgbClr val="CCCCCC"/>
                </a:solidFill>
                <a:latin typeface="Segoe UI"/>
              </a:defRPr>
            </a:pPr>
            <a:r>
              <a:rPr dirty="0"/>
              <a:t>🎯  Service orchestration — define your entire app in code</a:t>
            </a:r>
          </a:p>
          <a:p>
            <a:pPr>
              <a:spcBef>
                <a:spcPts val="400"/>
              </a:spcBef>
              <a:spcAft>
                <a:spcPts val="200"/>
              </a:spcAft>
              <a:defRPr sz="2000" b="0">
                <a:solidFill>
                  <a:srgbClr val="CCCCCC"/>
                </a:solidFill>
                <a:latin typeface="Segoe UI"/>
              </a:defRPr>
            </a:pPr>
            <a:r>
              <a:rPr dirty="0"/>
              <a:t>🔗  Service discovery — automatic URL resolution between services</a:t>
            </a:r>
          </a:p>
          <a:p>
            <a:pPr>
              <a:spcBef>
                <a:spcPts val="400"/>
              </a:spcBef>
              <a:spcAft>
                <a:spcPts val="200"/>
              </a:spcAft>
              <a:defRPr sz="2000" b="0">
                <a:solidFill>
                  <a:srgbClr val="CCCCCC"/>
                </a:solidFill>
                <a:latin typeface="Segoe UI"/>
              </a:defRPr>
            </a:pPr>
            <a:r>
              <a:rPr dirty="0"/>
              <a:t>📊  </a:t>
            </a:r>
            <a:r>
              <a:rPr dirty="0" err="1"/>
              <a:t>OpenTelemetry</a:t>
            </a:r>
            <a:r>
              <a:rPr dirty="0"/>
              <a:t> — logs, distributed traces, metrics built in</a:t>
            </a:r>
          </a:p>
          <a:p>
            <a:pPr>
              <a:spcBef>
                <a:spcPts val="400"/>
              </a:spcBef>
              <a:spcAft>
                <a:spcPts val="200"/>
              </a:spcAft>
              <a:defRPr sz="2000" b="0">
                <a:solidFill>
                  <a:srgbClr val="CCCCCC"/>
                </a:solidFill>
                <a:latin typeface="Segoe UI"/>
              </a:defRPr>
            </a:pPr>
            <a:r>
              <a:rPr dirty="0"/>
              <a:t>🏥  Health checks — know when services are ready</a:t>
            </a:r>
          </a:p>
          <a:p>
            <a:pPr>
              <a:spcBef>
                <a:spcPts val="400"/>
              </a:spcBef>
              <a:spcAft>
                <a:spcPts val="200"/>
              </a:spcAft>
              <a:defRPr sz="2000" b="0">
                <a:solidFill>
                  <a:srgbClr val="CCCCCC"/>
                </a:solidFill>
                <a:latin typeface="Segoe UI"/>
              </a:defRPr>
            </a:pPr>
            <a:r>
              <a:rPr dirty="0"/>
              <a:t>⏳  Dependency ordering — services start in the right order</a:t>
            </a:r>
          </a:p>
          <a:p>
            <a:pPr>
              <a:spcBef>
                <a:spcPts val="400"/>
              </a:spcBef>
              <a:spcAft>
                <a:spcPts val="200"/>
              </a:spcAft>
              <a:defRPr sz="2000" b="0">
                <a:solidFill>
                  <a:srgbClr val="CCCCCC"/>
                </a:solidFill>
                <a:latin typeface="Segoe UI"/>
              </a:defRPr>
            </a:pPr>
            <a:r>
              <a:rPr dirty="0"/>
              <a:t>🚀  Azure deployment — same app model deploys to Container Apps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The AppHost — Your Entire App in Code</a:t>
            </a:r>
          </a:p>
        </p:txBody>
      </p:sp>
      <p:sp>
        <p:nvSpPr>
          <p:cNvPr id="4" name="Rounded Rectangle 3"/>
          <p:cNvSpPr/>
          <p:nvPr/>
        </p:nvSpPr>
        <p:spPr>
          <a:xfrm>
            <a:off x="457200" y="1371600"/>
            <a:ext cx="6858000" cy="502920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rtlCol="0" anchor="ctr"/>
          <a:lstStyle/>
          <a:p>
            <a:pPr>
              <a:spcBef>
                <a:spcPts val="0"/>
              </a:spcBef>
              <a:spcAft>
                <a:spcPts val="0"/>
              </a:spcAft>
              <a:defRPr sz="1300">
                <a:solidFill>
                  <a:srgbClr val="E0E0E0"/>
                </a:solidFill>
                <a:latin typeface="Cascadia Code"/>
              </a:defRPr>
            </a:pPr>
            <a:r>
              <a:rPr sz="1100" dirty="0"/>
              <a:t>var builder = </a:t>
            </a:r>
            <a:r>
              <a:rPr sz="1100" dirty="0" err="1"/>
              <a:t>DistributedApplication.CreateBuilder</a:t>
            </a:r>
            <a:r>
              <a:rPr sz="1100" dirty="0"/>
              <a:t>(</a:t>
            </a:r>
            <a:r>
              <a:rPr sz="1100" dirty="0" err="1"/>
              <a:t>args</a:t>
            </a:r>
            <a:r>
              <a:rPr sz="1100" dirty="0"/>
              <a:t>);</a:t>
            </a:r>
          </a:p>
          <a:p>
            <a:pPr>
              <a:spcBef>
                <a:spcPts val="0"/>
              </a:spcBef>
              <a:spcAft>
                <a:spcPts val="0"/>
              </a:spcAft>
              <a:defRPr sz="1300">
                <a:solidFill>
                  <a:srgbClr val="E0E0E0"/>
                </a:solidFill>
                <a:latin typeface="Cascadia Code"/>
              </a:defRPr>
            </a:pPr>
            <a:endParaRPr sz="1100" dirty="0"/>
          </a:p>
          <a:p>
            <a:pPr>
              <a:spcBef>
                <a:spcPts val="0"/>
              </a:spcBef>
              <a:spcAft>
                <a:spcPts val="0"/>
              </a:spcAft>
              <a:defRPr sz="1300">
                <a:solidFill>
                  <a:srgbClr val="E0E0E0"/>
                </a:solidFill>
                <a:latin typeface="Cascadia Code"/>
              </a:defRPr>
            </a:pPr>
            <a:r>
              <a:rPr sz="1100" dirty="0"/>
              <a:t>var </a:t>
            </a:r>
            <a:r>
              <a:rPr sz="1100" dirty="0" err="1"/>
              <a:t>mcpMarkItDown</a:t>
            </a:r>
            <a:r>
              <a:rPr sz="1100" dirty="0"/>
              <a:t> = </a:t>
            </a:r>
            <a:r>
              <a:rPr sz="1100" dirty="0" err="1"/>
              <a:t>builder.AddContainer</a:t>
            </a:r>
            <a:r>
              <a:rPr sz="1100" dirty="0"/>
              <a:t>("</a:t>
            </a:r>
            <a:r>
              <a:rPr sz="1100" dirty="0" err="1"/>
              <a:t>mcp-markitdown</a:t>
            </a:r>
            <a:r>
              <a:rPr sz="1100" dirty="0"/>
              <a:t>", "</a:t>
            </a:r>
            <a:r>
              <a:rPr sz="1100" dirty="0" err="1"/>
              <a:t>mcp</a:t>
            </a:r>
            <a:r>
              <a:rPr sz="1100" dirty="0"/>
              <a:t>/</a:t>
            </a:r>
            <a:r>
              <a:rPr sz="1100" dirty="0" err="1"/>
              <a:t>markitdown</a:t>
            </a:r>
            <a:r>
              <a:rPr sz="1100" dirty="0"/>
              <a:t>")</a:t>
            </a:r>
          </a:p>
          <a:p>
            <a:pPr>
              <a:spcBef>
                <a:spcPts val="0"/>
              </a:spcBef>
              <a:spcAft>
                <a:spcPts val="0"/>
              </a:spcAft>
              <a:defRPr sz="1300">
                <a:solidFill>
                  <a:srgbClr val="E0E0E0"/>
                </a:solidFill>
                <a:latin typeface="Cascadia Code"/>
              </a:defRPr>
            </a:pPr>
            <a:r>
              <a:rPr sz="1100" dirty="0"/>
              <a:t>    .</a:t>
            </a:r>
            <a:r>
              <a:rPr sz="1100" dirty="0" err="1"/>
              <a:t>WithHttpEndpoint</a:t>
            </a:r>
            <a:r>
              <a:rPr sz="1100" dirty="0"/>
              <a:t>(3001, 3001);</a:t>
            </a:r>
          </a:p>
          <a:p>
            <a:pPr>
              <a:spcBef>
                <a:spcPts val="0"/>
              </a:spcBef>
              <a:spcAft>
                <a:spcPts val="0"/>
              </a:spcAft>
              <a:defRPr sz="1300">
                <a:solidFill>
                  <a:srgbClr val="E0E0E0"/>
                </a:solidFill>
                <a:latin typeface="Cascadia Code"/>
              </a:defRPr>
            </a:pPr>
            <a:endParaRPr sz="1100" dirty="0"/>
          </a:p>
          <a:p>
            <a:pPr>
              <a:spcBef>
                <a:spcPts val="0"/>
              </a:spcBef>
              <a:spcAft>
                <a:spcPts val="0"/>
              </a:spcAft>
              <a:defRPr sz="1300">
                <a:solidFill>
                  <a:srgbClr val="E0E0E0"/>
                </a:solidFill>
                <a:latin typeface="Cascadia Code"/>
              </a:defRPr>
            </a:pPr>
            <a:r>
              <a:rPr sz="1100" dirty="0"/>
              <a:t>var </a:t>
            </a:r>
            <a:r>
              <a:rPr sz="1100" dirty="0" err="1"/>
              <a:t>sqlite</a:t>
            </a:r>
            <a:r>
              <a:rPr sz="1100" dirty="0"/>
              <a:t> = </a:t>
            </a:r>
            <a:r>
              <a:rPr sz="1100" dirty="0" err="1"/>
              <a:t>builder.AddSqlite</a:t>
            </a:r>
            <a:r>
              <a:rPr sz="1100" dirty="0"/>
              <a:t>("</a:t>
            </a:r>
            <a:r>
              <a:rPr sz="1100" dirty="0" err="1"/>
              <a:t>sqlite</a:t>
            </a:r>
            <a:r>
              <a:rPr sz="1100" dirty="0"/>
              <a:t>", </a:t>
            </a:r>
            <a:r>
              <a:rPr sz="1100" dirty="0" err="1"/>
              <a:t>databaseFileName</a:t>
            </a:r>
            <a:r>
              <a:rPr sz="1100" dirty="0"/>
              <a:t>: "</a:t>
            </a:r>
            <a:r>
              <a:rPr sz="1100" dirty="0" err="1"/>
              <a:t>interview.db</a:t>
            </a:r>
            <a:r>
              <a:rPr sz="1100" dirty="0"/>
              <a:t>")</a:t>
            </a:r>
          </a:p>
          <a:p>
            <a:pPr>
              <a:spcBef>
                <a:spcPts val="0"/>
              </a:spcBef>
              <a:spcAft>
                <a:spcPts val="0"/>
              </a:spcAft>
              <a:defRPr sz="1300">
                <a:solidFill>
                  <a:srgbClr val="E0E0E0"/>
                </a:solidFill>
                <a:latin typeface="Cascadia Code"/>
              </a:defRPr>
            </a:pPr>
            <a:r>
              <a:rPr sz="1100" dirty="0"/>
              <a:t>    .</a:t>
            </a:r>
            <a:r>
              <a:rPr sz="1100" dirty="0" err="1"/>
              <a:t>WithSqliteWeb</a:t>
            </a:r>
            <a:r>
              <a:rPr sz="1100" dirty="0"/>
              <a:t>();</a:t>
            </a:r>
          </a:p>
          <a:p>
            <a:pPr>
              <a:spcBef>
                <a:spcPts val="0"/>
              </a:spcBef>
              <a:spcAft>
                <a:spcPts val="0"/>
              </a:spcAft>
              <a:defRPr sz="1300">
                <a:solidFill>
                  <a:srgbClr val="E0E0E0"/>
                </a:solidFill>
                <a:latin typeface="Cascadia Code"/>
              </a:defRPr>
            </a:pPr>
            <a:endParaRPr sz="1100" dirty="0"/>
          </a:p>
          <a:p>
            <a:pPr>
              <a:spcBef>
                <a:spcPts val="0"/>
              </a:spcBef>
              <a:spcAft>
                <a:spcPts val="0"/>
              </a:spcAft>
              <a:defRPr sz="1300">
                <a:solidFill>
                  <a:srgbClr val="E0E0E0"/>
                </a:solidFill>
                <a:latin typeface="Cascadia Code"/>
              </a:defRPr>
            </a:pPr>
            <a:r>
              <a:rPr sz="1100" dirty="0"/>
              <a:t>var </a:t>
            </a:r>
            <a:r>
              <a:rPr sz="1100" dirty="0" err="1"/>
              <a:t>mcpInterviewData</a:t>
            </a:r>
            <a:r>
              <a:rPr sz="1100" dirty="0"/>
              <a:t> = </a:t>
            </a:r>
            <a:r>
              <a:rPr sz="1100" dirty="0" err="1"/>
              <a:t>builder.AddProject</a:t>
            </a:r>
            <a:r>
              <a:rPr sz="1100" dirty="0"/>
              <a:t>&lt;</a:t>
            </a:r>
            <a:r>
              <a:rPr sz="1100" dirty="0" err="1"/>
              <a:t>InterviewData</a:t>
            </a:r>
            <a:r>
              <a:rPr sz="1100" dirty="0"/>
              <a:t>&gt;("</a:t>
            </a:r>
            <a:r>
              <a:rPr sz="1100" dirty="0" err="1"/>
              <a:t>mcp</a:t>
            </a:r>
            <a:r>
              <a:rPr sz="1100" dirty="0"/>
              <a:t>-interview-data")</a:t>
            </a:r>
          </a:p>
          <a:p>
            <a:pPr>
              <a:spcBef>
                <a:spcPts val="0"/>
              </a:spcBef>
              <a:spcAft>
                <a:spcPts val="0"/>
              </a:spcAft>
              <a:defRPr sz="1300">
                <a:solidFill>
                  <a:srgbClr val="E0E0E0"/>
                </a:solidFill>
                <a:latin typeface="Cascadia Code"/>
              </a:defRPr>
            </a:pPr>
            <a:r>
              <a:rPr sz="1100" dirty="0"/>
              <a:t>    .</a:t>
            </a:r>
            <a:r>
              <a:rPr sz="1100" dirty="0" err="1"/>
              <a:t>WithReference</a:t>
            </a:r>
            <a:r>
              <a:rPr sz="1100" dirty="0"/>
              <a:t>(</a:t>
            </a:r>
            <a:r>
              <a:rPr sz="1100" dirty="0" err="1"/>
              <a:t>sqlite</a:t>
            </a:r>
            <a:r>
              <a:rPr sz="1100" dirty="0"/>
              <a:t>)              // ← service discovery</a:t>
            </a:r>
          </a:p>
          <a:p>
            <a:pPr>
              <a:spcBef>
                <a:spcPts val="0"/>
              </a:spcBef>
              <a:spcAft>
                <a:spcPts val="0"/>
              </a:spcAft>
              <a:defRPr sz="1300">
                <a:solidFill>
                  <a:srgbClr val="E0E0E0"/>
                </a:solidFill>
                <a:latin typeface="Cascadia Code"/>
              </a:defRPr>
            </a:pPr>
            <a:r>
              <a:rPr sz="1100" dirty="0"/>
              <a:t>    .</a:t>
            </a:r>
            <a:r>
              <a:rPr sz="1100" dirty="0" err="1"/>
              <a:t>WaitFor</a:t>
            </a:r>
            <a:r>
              <a:rPr sz="1100" dirty="0"/>
              <a:t>(</a:t>
            </a:r>
            <a:r>
              <a:rPr sz="1100" dirty="0" err="1"/>
              <a:t>sqlite</a:t>
            </a:r>
            <a:r>
              <a:rPr sz="1100" dirty="0"/>
              <a:t>);                   // ← dependency ordering</a:t>
            </a:r>
          </a:p>
          <a:p>
            <a:pPr>
              <a:spcBef>
                <a:spcPts val="0"/>
              </a:spcBef>
              <a:spcAft>
                <a:spcPts val="0"/>
              </a:spcAft>
              <a:defRPr sz="1300">
                <a:solidFill>
                  <a:srgbClr val="E0E0E0"/>
                </a:solidFill>
                <a:latin typeface="Cascadia Code"/>
              </a:defRPr>
            </a:pPr>
            <a:endParaRPr sz="1100" dirty="0"/>
          </a:p>
          <a:p>
            <a:pPr>
              <a:spcBef>
                <a:spcPts val="0"/>
              </a:spcBef>
              <a:spcAft>
                <a:spcPts val="0"/>
              </a:spcAft>
              <a:defRPr sz="1300">
                <a:solidFill>
                  <a:srgbClr val="E0E0E0"/>
                </a:solidFill>
                <a:latin typeface="Cascadia Code"/>
              </a:defRPr>
            </a:pPr>
            <a:r>
              <a:rPr sz="1100" dirty="0"/>
              <a:t>var agent = </a:t>
            </a:r>
            <a:r>
              <a:rPr sz="1100" dirty="0" err="1"/>
              <a:t>builder.AddProject</a:t>
            </a:r>
            <a:r>
              <a:rPr sz="1100" dirty="0"/>
              <a:t>&lt;Agent&gt;("agent")</a:t>
            </a:r>
          </a:p>
          <a:p>
            <a:pPr>
              <a:spcBef>
                <a:spcPts val="0"/>
              </a:spcBef>
              <a:spcAft>
                <a:spcPts val="0"/>
              </a:spcAft>
              <a:defRPr sz="1300">
                <a:solidFill>
                  <a:srgbClr val="E0E0E0"/>
                </a:solidFill>
                <a:latin typeface="Cascadia Code"/>
              </a:defRPr>
            </a:pPr>
            <a:r>
              <a:rPr sz="1100" dirty="0"/>
              <a:t>    .</a:t>
            </a:r>
            <a:r>
              <a:rPr sz="1100" dirty="0" err="1"/>
              <a:t>WithLlmReference</a:t>
            </a:r>
            <a:r>
              <a:rPr sz="1100" dirty="0"/>
              <a:t>(</a:t>
            </a:r>
            <a:r>
              <a:rPr sz="1100" dirty="0" err="1"/>
              <a:t>builder.Configuration</a:t>
            </a:r>
            <a:r>
              <a:rPr sz="1100" dirty="0"/>
              <a:t>, </a:t>
            </a:r>
            <a:r>
              <a:rPr sz="1100" dirty="0" err="1"/>
              <a:t>args</a:t>
            </a:r>
            <a:r>
              <a:rPr sz="1100" dirty="0"/>
              <a:t>)</a:t>
            </a:r>
          </a:p>
          <a:p>
            <a:pPr>
              <a:spcBef>
                <a:spcPts val="0"/>
              </a:spcBef>
              <a:spcAft>
                <a:spcPts val="0"/>
              </a:spcAft>
              <a:defRPr sz="1300">
                <a:solidFill>
                  <a:srgbClr val="E0E0E0"/>
                </a:solidFill>
                <a:latin typeface="Cascadia Code"/>
              </a:defRPr>
            </a:pPr>
            <a:r>
              <a:rPr sz="1100" dirty="0"/>
              <a:t>    .</a:t>
            </a:r>
            <a:r>
              <a:rPr sz="1100" dirty="0" err="1"/>
              <a:t>WithReference</a:t>
            </a:r>
            <a:r>
              <a:rPr sz="1100" dirty="0"/>
              <a:t>(</a:t>
            </a:r>
            <a:r>
              <a:rPr sz="1100" dirty="0" err="1"/>
              <a:t>mcpMarkItDown.GetEndpoint</a:t>
            </a:r>
            <a:r>
              <a:rPr sz="1100" dirty="0"/>
              <a:t>("http"))</a:t>
            </a:r>
          </a:p>
          <a:p>
            <a:pPr>
              <a:spcBef>
                <a:spcPts val="0"/>
              </a:spcBef>
              <a:spcAft>
                <a:spcPts val="0"/>
              </a:spcAft>
              <a:defRPr sz="1300">
                <a:solidFill>
                  <a:srgbClr val="E0E0E0"/>
                </a:solidFill>
                <a:latin typeface="Cascadia Code"/>
              </a:defRPr>
            </a:pPr>
            <a:r>
              <a:rPr sz="1100" dirty="0"/>
              <a:t>    .</a:t>
            </a:r>
            <a:r>
              <a:rPr sz="1100" dirty="0" err="1"/>
              <a:t>WithReference</a:t>
            </a:r>
            <a:r>
              <a:rPr sz="1100" dirty="0"/>
              <a:t>(</a:t>
            </a:r>
            <a:r>
              <a:rPr sz="1100" dirty="0" err="1"/>
              <a:t>mcpInterviewData</a:t>
            </a:r>
            <a:r>
              <a:rPr sz="1100" dirty="0"/>
              <a:t>)</a:t>
            </a:r>
          </a:p>
          <a:p>
            <a:pPr>
              <a:spcBef>
                <a:spcPts val="0"/>
              </a:spcBef>
              <a:spcAft>
                <a:spcPts val="0"/>
              </a:spcAft>
              <a:defRPr sz="1300">
                <a:solidFill>
                  <a:srgbClr val="E0E0E0"/>
                </a:solidFill>
                <a:latin typeface="Cascadia Code"/>
              </a:defRPr>
            </a:pPr>
            <a:r>
              <a:rPr sz="1100" dirty="0"/>
              <a:t>    .</a:t>
            </a:r>
            <a:r>
              <a:rPr sz="1100" dirty="0" err="1"/>
              <a:t>WaitFor</a:t>
            </a:r>
            <a:r>
              <a:rPr sz="1100" dirty="0"/>
              <a:t>(</a:t>
            </a:r>
            <a:r>
              <a:rPr sz="1100" dirty="0" err="1"/>
              <a:t>mcpMarkItDown</a:t>
            </a:r>
            <a:r>
              <a:rPr sz="1100" dirty="0"/>
              <a:t>)</a:t>
            </a:r>
          </a:p>
          <a:p>
            <a:pPr>
              <a:spcBef>
                <a:spcPts val="0"/>
              </a:spcBef>
              <a:spcAft>
                <a:spcPts val="0"/>
              </a:spcAft>
              <a:defRPr sz="1300">
                <a:solidFill>
                  <a:srgbClr val="E0E0E0"/>
                </a:solidFill>
                <a:latin typeface="Cascadia Code"/>
              </a:defRPr>
            </a:pPr>
            <a:r>
              <a:rPr sz="1100" dirty="0"/>
              <a:t>    .</a:t>
            </a:r>
            <a:r>
              <a:rPr sz="1100" dirty="0" err="1"/>
              <a:t>WaitFor</a:t>
            </a:r>
            <a:r>
              <a:rPr sz="1100" dirty="0"/>
              <a:t>(</a:t>
            </a:r>
            <a:r>
              <a:rPr sz="1100" dirty="0" err="1"/>
              <a:t>mcpInterviewData</a:t>
            </a:r>
            <a:r>
              <a:rPr sz="1100" dirty="0"/>
              <a:t>);</a:t>
            </a:r>
          </a:p>
          <a:p>
            <a:pPr>
              <a:spcBef>
                <a:spcPts val="0"/>
              </a:spcBef>
              <a:spcAft>
                <a:spcPts val="0"/>
              </a:spcAft>
              <a:defRPr sz="1300">
                <a:solidFill>
                  <a:srgbClr val="E0E0E0"/>
                </a:solidFill>
                <a:latin typeface="Cascadia Code"/>
              </a:defRPr>
            </a:pPr>
            <a:endParaRPr sz="1100" dirty="0"/>
          </a:p>
          <a:p>
            <a:pPr>
              <a:spcBef>
                <a:spcPts val="0"/>
              </a:spcBef>
              <a:spcAft>
                <a:spcPts val="0"/>
              </a:spcAft>
              <a:defRPr sz="1300">
                <a:solidFill>
                  <a:srgbClr val="E0E0E0"/>
                </a:solidFill>
                <a:latin typeface="Cascadia Code"/>
              </a:defRPr>
            </a:pPr>
            <a:r>
              <a:rPr sz="1100" dirty="0"/>
              <a:t>var </a:t>
            </a:r>
            <a:r>
              <a:rPr sz="1100" dirty="0" err="1"/>
              <a:t>webUI</a:t>
            </a:r>
            <a:r>
              <a:rPr sz="1100" dirty="0"/>
              <a:t> = </a:t>
            </a:r>
            <a:r>
              <a:rPr sz="1100" dirty="0" err="1"/>
              <a:t>builder.AddProject</a:t>
            </a:r>
            <a:r>
              <a:rPr sz="1100" dirty="0"/>
              <a:t>&lt;WebUI&gt;("</a:t>
            </a:r>
            <a:r>
              <a:rPr sz="1100" dirty="0" err="1"/>
              <a:t>webui</a:t>
            </a:r>
            <a:r>
              <a:rPr sz="1100" dirty="0"/>
              <a:t>")</a:t>
            </a:r>
          </a:p>
          <a:p>
            <a:pPr>
              <a:spcBef>
                <a:spcPts val="0"/>
              </a:spcBef>
              <a:spcAft>
                <a:spcPts val="0"/>
              </a:spcAft>
              <a:defRPr sz="1300">
                <a:solidFill>
                  <a:srgbClr val="E0E0E0"/>
                </a:solidFill>
                <a:latin typeface="Cascadia Code"/>
              </a:defRPr>
            </a:pPr>
            <a:r>
              <a:rPr sz="1100" dirty="0"/>
              <a:t>    .</a:t>
            </a:r>
            <a:r>
              <a:rPr sz="1100" dirty="0" err="1"/>
              <a:t>WithReference</a:t>
            </a:r>
            <a:r>
              <a:rPr sz="1100" dirty="0"/>
              <a:t>(agent)               // ← knows agent URL</a:t>
            </a:r>
          </a:p>
          <a:p>
            <a:pPr>
              <a:spcBef>
                <a:spcPts val="0"/>
              </a:spcBef>
              <a:spcAft>
                <a:spcPts val="0"/>
              </a:spcAft>
              <a:defRPr sz="1300">
                <a:solidFill>
                  <a:srgbClr val="E0E0E0"/>
                </a:solidFill>
                <a:latin typeface="Cascadia Code"/>
              </a:defRPr>
            </a:pPr>
            <a:r>
              <a:rPr sz="1100" dirty="0"/>
              <a:t>    .</a:t>
            </a:r>
            <a:r>
              <a:rPr sz="1100" dirty="0" err="1"/>
              <a:t>WaitFor</a:t>
            </a:r>
            <a:r>
              <a:rPr sz="1100" dirty="0"/>
              <a:t>(agent);</a:t>
            </a:r>
          </a:p>
          <a:p>
            <a:pPr>
              <a:spcBef>
                <a:spcPts val="0"/>
              </a:spcBef>
              <a:spcAft>
                <a:spcPts val="0"/>
              </a:spcAft>
              <a:defRPr sz="1300">
                <a:solidFill>
                  <a:srgbClr val="E0E0E0"/>
                </a:solidFill>
                <a:latin typeface="Cascadia Code"/>
              </a:defRPr>
            </a:pPr>
            <a:endParaRPr sz="1100" dirty="0"/>
          </a:p>
          <a:p>
            <a:pPr>
              <a:spcBef>
                <a:spcPts val="0"/>
              </a:spcBef>
              <a:spcAft>
                <a:spcPts val="0"/>
              </a:spcAft>
              <a:defRPr sz="1300">
                <a:solidFill>
                  <a:srgbClr val="E0E0E0"/>
                </a:solidFill>
                <a:latin typeface="Cascadia Code"/>
              </a:defRPr>
            </a:pPr>
            <a:r>
              <a:rPr sz="1100" dirty="0"/>
              <a:t>await </a:t>
            </a:r>
            <a:r>
              <a:rPr sz="1100" dirty="0" err="1"/>
              <a:t>builder.Build</a:t>
            </a:r>
            <a:r>
              <a:rPr sz="1100" dirty="0"/>
              <a:t>().</a:t>
            </a:r>
            <a:r>
              <a:rPr sz="1100" dirty="0" err="1"/>
              <a:t>RunAsync</a:t>
            </a:r>
            <a:r>
              <a:rPr sz="1100" dirty="0"/>
              <a:t>();</a:t>
            </a:r>
          </a:p>
        </p:txBody>
      </p:sp>
      <p:sp>
        <p:nvSpPr>
          <p:cNvPr id="5" name="TextBox 4"/>
          <p:cNvSpPr txBox="1"/>
          <p:nvPr/>
        </p:nvSpPr>
        <p:spPr>
          <a:xfrm>
            <a:off x="7589520" y="1645920"/>
            <a:ext cx="4114800" cy="4572000"/>
          </a:xfrm>
          <a:prstGeom prst="rect">
            <a:avLst/>
          </a:prstGeom>
          <a:noFill/>
        </p:spPr>
        <p:txBody>
          <a:bodyPr wrap="square">
            <a:spAutoFit/>
          </a:bodyPr>
          <a:lstStyle/>
          <a:p>
            <a:pPr algn="l">
              <a:defRPr sz="3600" b="1">
                <a:solidFill>
                  <a:srgbClr val="00BCD4"/>
                </a:solidFill>
                <a:latin typeface="Segoe UI"/>
              </a:defRPr>
            </a:pPr>
            <a:r>
              <a:t>32 lines.</a:t>
            </a:r>
          </a:p>
          <a:p>
            <a:pPr algn="l">
              <a:spcBef>
                <a:spcPts val="1200"/>
              </a:spcBef>
              <a:spcAft>
                <a:spcPts val="200"/>
              </a:spcAft>
              <a:defRPr sz="2000" b="0">
                <a:solidFill>
                  <a:srgbClr val="CCCCCC"/>
                </a:solidFill>
                <a:latin typeface="Segoe UI"/>
              </a:defRPr>
            </a:pPr>
            <a:r>
              <a:t>That's your entire distributed application.</a:t>
            </a:r>
          </a:p>
          <a:p>
            <a:pPr algn="l">
              <a:spcBef>
                <a:spcPts val="2000"/>
              </a:spcBef>
              <a:spcAft>
                <a:spcPts val="200"/>
              </a:spcAft>
              <a:defRPr sz="1800" b="1">
                <a:solidFill>
                  <a:srgbClr val="00BCD4"/>
                </a:solidFill>
                <a:latin typeface="Segoe UI"/>
              </a:defRPr>
            </a:pPr>
            <a:r>
              <a:t>WithReference</a:t>
            </a:r>
          </a:p>
          <a:p>
            <a:pPr algn="l">
              <a:spcBef>
                <a:spcPts val="600"/>
              </a:spcBef>
              <a:spcAft>
                <a:spcPts val="200"/>
              </a:spcAft>
              <a:defRPr sz="1600" b="0">
                <a:solidFill>
                  <a:srgbClr val="CCCCCC"/>
                </a:solidFill>
                <a:latin typeface="Segoe UI"/>
              </a:defRPr>
            </a:pPr>
            <a:r>
              <a:t>→ automatic service discovery</a:t>
            </a:r>
          </a:p>
          <a:p>
            <a:pPr algn="l">
              <a:spcBef>
                <a:spcPts val="1200"/>
              </a:spcBef>
              <a:spcAft>
                <a:spcPts val="200"/>
              </a:spcAft>
              <a:defRPr sz="1800" b="1">
                <a:solidFill>
                  <a:srgbClr val="00BCD4"/>
                </a:solidFill>
                <a:latin typeface="Segoe UI"/>
              </a:defRPr>
            </a:pPr>
            <a:r>
              <a:t>WaitFor</a:t>
            </a:r>
          </a:p>
          <a:p>
            <a:pPr algn="l">
              <a:spcBef>
                <a:spcPts val="600"/>
              </a:spcBef>
              <a:spcAft>
                <a:spcPts val="200"/>
              </a:spcAft>
              <a:defRPr sz="1600" b="0">
                <a:solidFill>
                  <a:srgbClr val="CCCCCC"/>
                </a:solidFill>
                <a:latin typeface="Segoe UI"/>
              </a:defRPr>
            </a:pPr>
            <a:r>
              <a:t>→ dependency ordering</a:t>
            </a:r>
          </a:p>
          <a:p>
            <a:pPr algn="l">
              <a:spcBef>
                <a:spcPts val="1200"/>
              </a:spcBef>
              <a:spcAft>
                <a:spcPts val="200"/>
              </a:spcAft>
              <a:defRPr sz="1800" b="1">
                <a:solidFill>
                  <a:srgbClr val="00BCD4"/>
                </a:solidFill>
                <a:latin typeface="Segoe UI"/>
              </a:defRPr>
            </a:pPr>
            <a:r>
              <a:t>AddContainer</a:t>
            </a:r>
          </a:p>
          <a:p>
            <a:pPr algn="l">
              <a:spcBef>
                <a:spcPts val="600"/>
              </a:spcBef>
              <a:spcAft>
                <a:spcPts val="200"/>
              </a:spcAft>
              <a:defRPr sz="1600" b="0">
                <a:solidFill>
                  <a:srgbClr val="CCCCCC"/>
                </a:solidFill>
                <a:latin typeface="Segoe UI"/>
              </a:defRPr>
            </a:pPr>
            <a:r>
              <a:t>→ Docker containers (MarkItDown)</a:t>
            </a:r>
          </a:p>
          <a:p>
            <a:pPr algn="l">
              <a:spcBef>
                <a:spcPts val="1200"/>
              </a:spcBef>
              <a:spcAft>
                <a:spcPts val="200"/>
              </a:spcAft>
              <a:defRPr sz="1800" b="1">
                <a:solidFill>
                  <a:srgbClr val="00BCD4"/>
                </a:solidFill>
                <a:latin typeface="Segoe UI"/>
              </a:defRPr>
            </a:pPr>
            <a:r>
              <a:t>AddProject</a:t>
            </a:r>
          </a:p>
          <a:p>
            <a:pPr algn="l">
              <a:spcBef>
                <a:spcPts val="600"/>
              </a:spcBef>
              <a:spcAft>
                <a:spcPts val="200"/>
              </a:spcAft>
              <a:defRPr sz="1600" b="0">
                <a:solidFill>
                  <a:srgbClr val="CCCCCC"/>
                </a:solidFill>
                <a:latin typeface="Segoe UI"/>
              </a:defRPr>
            </a:pPr>
            <a:r>
              <a:t>→ .NET projects (Agent, WebUI)</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aspire run — One Command to Rule Them All</a:t>
            </a:r>
          </a:p>
        </p:txBody>
      </p:sp>
      <p:sp>
        <p:nvSpPr>
          <p:cNvPr id="4" name="Rounded Rectangle 3"/>
          <p:cNvSpPr/>
          <p:nvPr/>
        </p:nvSpPr>
        <p:spPr>
          <a:xfrm>
            <a:off x="731520" y="1463040"/>
            <a:ext cx="10515600" cy="109728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rtlCol="0" anchor="ctr"/>
          <a:lstStyle/>
          <a:p>
            <a:pPr algn="ctr">
              <a:spcBef>
                <a:spcPts val="0"/>
              </a:spcBef>
              <a:spcAft>
                <a:spcPts val="0"/>
              </a:spcAft>
              <a:defRPr sz="2000">
                <a:solidFill>
                  <a:srgbClr val="E0E0E0"/>
                </a:solidFill>
                <a:latin typeface="Cascadia Code"/>
              </a:defRPr>
            </a:pPr>
            <a:r>
              <a:t>$ aspire run --file ./apphost.cs</a:t>
            </a:r>
          </a:p>
        </p:txBody>
      </p:sp>
      <p:sp>
        <p:nvSpPr>
          <p:cNvPr id="5" name="TextBox 4"/>
          <p:cNvSpPr txBox="1"/>
          <p:nvPr/>
        </p:nvSpPr>
        <p:spPr>
          <a:xfrm>
            <a:off x="731520" y="2926080"/>
            <a:ext cx="10515600" cy="3474720"/>
          </a:xfrm>
          <a:prstGeom prst="rect">
            <a:avLst/>
          </a:prstGeom>
          <a:noFill/>
        </p:spPr>
        <p:txBody>
          <a:bodyPr wrap="square">
            <a:spAutoFit/>
          </a:bodyPr>
          <a:lstStyle/>
          <a:p>
            <a:pPr algn="l">
              <a:defRPr sz="2400" b="1">
                <a:solidFill>
                  <a:srgbClr val="FFFFFF"/>
                </a:solidFill>
                <a:latin typeface="Segoe UI"/>
              </a:defRPr>
            </a:pPr>
            <a:r>
              <a:t>What happens:</a:t>
            </a:r>
          </a:p>
          <a:p>
            <a:pPr>
              <a:spcBef>
                <a:spcPts val="400"/>
              </a:spcBef>
              <a:spcAft>
                <a:spcPts val="200"/>
              </a:spcAft>
              <a:defRPr sz="2000" b="0">
                <a:solidFill>
                  <a:srgbClr val="CCCCCC"/>
                </a:solidFill>
                <a:latin typeface="Segoe UI"/>
              </a:defRPr>
            </a:pPr>
            <a:r>
              <a:t>1.  SQLite database created</a:t>
            </a:r>
          </a:p>
          <a:p>
            <a:pPr>
              <a:spcBef>
                <a:spcPts val="400"/>
              </a:spcBef>
              <a:spcAft>
                <a:spcPts val="200"/>
              </a:spcAft>
              <a:defRPr sz="2000" b="0">
                <a:solidFill>
                  <a:srgbClr val="CCCCCC"/>
                </a:solidFill>
                <a:latin typeface="Segoe UI"/>
              </a:defRPr>
            </a:pPr>
            <a:r>
              <a:t>2.  MarkItDown container starts (Docker)</a:t>
            </a:r>
          </a:p>
          <a:p>
            <a:pPr>
              <a:spcBef>
                <a:spcPts val="400"/>
              </a:spcBef>
              <a:spcAft>
                <a:spcPts val="200"/>
              </a:spcAft>
              <a:defRPr sz="2000" b="0">
                <a:solidFill>
                  <a:srgbClr val="CCCCCC"/>
                </a:solidFill>
                <a:latin typeface="Segoe UI"/>
              </a:defRPr>
            </a:pPr>
            <a:r>
              <a:t>3.  InterviewData MCP server starts, connects to SQLite</a:t>
            </a:r>
          </a:p>
          <a:p>
            <a:pPr>
              <a:spcBef>
                <a:spcPts val="400"/>
              </a:spcBef>
              <a:spcAft>
                <a:spcPts val="200"/>
              </a:spcAft>
              <a:defRPr sz="2000" b="0">
                <a:solidFill>
                  <a:srgbClr val="CCCCCC"/>
                </a:solidFill>
                <a:latin typeface="Segoe UI"/>
              </a:defRPr>
            </a:pPr>
            <a:r>
              <a:t>4.  Agent service starts, discovers MCP tools, connects to LLM</a:t>
            </a:r>
          </a:p>
          <a:p>
            <a:pPr>
              <a:spcBef>
                <a:spcPts val="400"/>
              </a:spcBef>
              <a:spcAft>
                <a:spcPts val="200"/>
              </a:spcAft>
              <a:defRPr sz="2000" b="0">
                <a:solidFill>
                  <a:srgbClr val="CCCCCC"/>
                </a:solidFill>
                <a:latin typeface="Segoe UI"/>
              </a:defRPr>
            </a:pPr>
            <a:r>
              <a:t>5.  WebUI starts, connects to Agent</a:t>
            </a:r>
          </a:p>
          <a:p>
            <a:pPr>
              <a:spcBef>
                <a:spcPts val="400"/>
              </a:spcBef>
              <a:spcAft>
                <a:spcPts val="200"/>
              </a:spcAft>
              <a:defRPr sz="2000" b="0">
                <a:solidFill>
                  <a:srgbClr val="66BB6A"/>
                </a:solidFill>
                <a:latin typeface="Segoe UI"/>
              </a:defRPr>
            </a:pPr>
            <a:r>
              <a:t>6.  Aspire Dashboard opens — all services green ✅</a:t>
            </a:r>
          </a:p>
          <a:p>
            <a:pPr algn="l">
              <a:spcBef>
                <a:spcPts val="600"/>
              </a:spcBef>
              <a:spcAft>
                <a:spcPts val="200"/>
              </a:spcAft>
              <a:defRPr sz="800" b="0">
                <a:solidFill>
                  <a:srgbClr val="FFFFFF"/>
                </a:solidFill>
                <a:latin typeface="Segoe UI"/>
              </a:defRPr>
            </a:pPr>
            <a:endParaRPr/>
          </a:p>
          <a:p>
            <a:pPr algn="l">
              <a:spcBef>
                <a:spcPts val="800"/>
              </a:spcBef>
              <a:spcAft>
                <a:spcPts val="200"/>
              </a:spcAft>
              <a:defRPr sz="2200" b="1">
                <a:solidFill>
                  <a:srgbClr val="00BCD4"/>
                </a:solidFill>
                <a:latin typeface="Segoe UI"/>
              </a:defRPr>
            </a:pPr>
            <a:r>
              <a:t>From git clone to fully working dev environment — minutes, not hours.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The Aspire Dashboard — Observability for Free</a:t>
            </a:r>
          </a:p>
        </p:txBody>
      </p:sp>
      <p:sp>
        <p:nvSpPr>
          <p:cNvPr id="4" name="TextBox 3"/>
          <p:cNvSpPr txBox="1"/>
          <p:nvPr/>
        </p:nvSpPr>
        <p:spPr>
          <a:xfrm>
            <a:off x="731520" y="1371600"/>
            <a:ext cx="10515600" cy="5029200"/>
          </a:xfrm>
          <a:prstGeom prst="rect">
            <a:avLst/>
          </a:prstGeom>
          <a:noFill/>
        </p:spPr>
        <p:txBody>
          <a:bodyPr wrap="square">
            <a:spAutoFit/>
          </a:bodyPr>
          <a:lstStyle/>
          <a:p>
            <a:pPr algn="l">
              <a:defRPr sz="2400" b="1">
                <a:solidFill>
                  <a:srgbClr val="FFFFFF"/>
                </a:solidFill>
                <a:latin typeface="Segoe UI"/>
              </a:defRPr>
            </a:pPr>
            <a:r>
              <a:t>Everything you need, out of the box:</a:t>
            </a:r>
          </a:p>
          <a:p>
            <a:pPr>
              <a:spcBef>
                <a:spcPts val="400"/>
              </a:spcBef>
              <a:spcAft>
                <a:spcPts val="200"/>
              </a:spcAft>
              <a:defRPr sz="2000" b="1">
                <a:solidFill>
                  <a:srgbClr val="00BCD4"/>
                </a:solidFill>
                <a:latin typeface="Segoe UI"/>
              </a:defRPr>
            </a:pPr>
            <a:r>
              <a:t>📋  Resources</a:t>
            </a:r>
          </a:p>
          <a:p>
            <a:pPr lvl="1">
              <a:spcBef>
                <a:spcPts val="400"/>
              </a:spcBef>
              <a:spcAft>
                <a:spcPts val="200"/>
              </a:spcAft>
              <a:defRPr sz="1800" b="0">
                <a:solidFill>
                  <a:srgbClr val="CCCCCC"/>
                </a:solidFill>
                <a:latin typeface="Segoe UI"/>
              </a:defRPr>
            </a:pPr>
            <a:r>
              <a:t>All services with status, endpoints, health — one view</a:t>
            </a:r>
          </a:p>
          <a:p>
            <a:pPr>
              <a:spcBef>
                <a:spcPts val="400"/>
              </a:spcBef>
              <a:spcAft>
                <a:spcPts val="200"/>
              </a:spcAft>
              <a:defRPr sz="2000" b="1">
                <a:solidFill>
                  <a:srgbClr val="00BCD4"/>
                </a:solidFill>
                <a:latin typeface="Segoe UI"/>
              </a:defRPr>
            </a:pPr>
            <a:r>
              <a:t>📝  Structured Logs</a:t>
            </a:r>
          </a:p>
          <a:p>
            <a:pPr lvl="1">
              <a:spcBef>
                <a:spcPts val="400"/>
              </a:spcBef>
              <a:spcAft>
                <a:spcPts val="200"/>
              </a:spcAft>
              <a:defRPr sz="1800" b="0">
                <a:solidFill>
                  <a:srgbClr val="CCCCCC"/>
                </a:solidFill>
                <a:latin typeface="Segoe UI"/>
              </a:defRPr>
            </a:pPr>
            <a:r>
              <a:t>Real-time logs from every service, filterable</a:t>
            </a:r>
          </a:p>
          <a:p>
            <a:pPr>
              <a:spcBef>
                <a:spcPts val="400"/>
              </a:spcBef>
              <a:spcAft>
                <a:spcPts val="200"/>
              </a:spcAft>
              <a:defRPr sz="2000" b="1">
                <a:solidFill>
                  <a:srgbClr val="00BCD4"/>
                </a:solidFill>
                <a:latin typeface="Segoe UI"/>
              </a:defRPr>
            </a:pPr>
            <a:r>
              <a:t>🔍  Distributed Traces</a:t>
            </a:r>
          </a:p>
          <a:p>
            <a:pPr lvl="1">
              <a:spcBef>
                <a:spcPts val="400"/>
              </a:spcBef>
              <a:spcAft>
                <a:spcPts val="200"/>
              </a:spcAft>
              <a:defRPr sz="1800" b="0">
                <a:solidFill>
                  <a:srgbClr val="CCCCCC"/>
                </a:solidFill>
                <a:latin typeface="Segoe UI"/>
              </a:defRPr>
            </a:pPr>
            <a:r>
              <a:t>Follow a request: User → WebUI → Agent → LLM → MCP → DB</a:t>
            </a:r>
          </a:p>
          <a:p>
            <a:pPr>
              <a:spcBef>
                <a:spcPts val="400"/>
              </a:spcBef>
              <a:spcAft>
                <a:spcPts val="200"/>
              </a:spcAft>
              <a:defRPr sz="2000" b="1">
                <a:solidFill>
                  <a:srgbClr val="00BCD4"/>
                </a:solidFill>
                <a:latin typeface="Segoe UI"/>
              </a:defRPr>
            </a:pPr>
            <a:r>
              <a:t>📊  Metrics</a:t>
            </a:r>
          </a:p>
          <a:p>
            <a:pPr lvl="1">
              <a:spcBef>
                <a:spcPts val="400"/>
              </a:spcBef>
              <a:spcAft>
                <a:spcPts val="200"/>
              </a:spcAft>
              <a:defRPr sz="1800" b="0">
                <a:solidFill>
                  <a:srgbClr val="CCCCCC"/>
                </a:solidFill>
                <a:latin typeface="Segoe UI"/>
              </a:defRPr>
            </a:pPr>
            <a:r>
              <a:t>Request rates, latencies, error rates per service</a:t>
            </a:r>
          </a:p>
          <a:p>
            <a:pPr>
              <a:spcBef>
                <a:spcPts val="400"/>
              </a:spcBef>
              <a:spcAft>
                <a:spcPts val="200"/>
              </a:spcAft>
              <a:defRPr sz="2000" b="1">
                <a:solidFill>
                  <a:srgbClr val="00BCD4"/>
                </a:solidFill>
                <a:latin typeface="Segoe UI"/>
              </a:defRPr>
            </a:pPr>
            <a:r>
              <a:t>🏥  Health Checks</a:t>
            </a:r>
          </a:p>
          <a:p>
            <a:pPr lvl="1">
              <a:spcBef>
                <a:spcPts val="400"/>
              </a:spcBef>
              <a:spcAft>
                <a:spcPts val="200"/>
              </a:spcAft>
              <a:defRPr sz="1800" b="0">
                <a:solidFill>
                  <a:srgbClr val="CCCCCC"/>
                </a:solidFill>
                <a:latin typeface="Segoe UI"/>
              </a:defRPr>
            </a:pPr>
            <a:r>
              <a:t>Automatic readiness/liveness probes</a:t>
            </a:r>
          </a:p>
          <a:p>
            <a:pPr algn="l">
              <a:spcBef>
                <a:spcPts val="1200"/>
              </a:spcBef>
              <a:spcAft>
                <a:spcPts val="200"/>
              </a:spcAft>
              <a:defRPr sz="1800" b="0">
                <a:solidFill>
                  <a:srgbClr val="FFD54F"/>
                </a:solidFill>
                <a:latin typeface="Segoe UI"/>
              </a:defRPr>
            </a:pPr>
            <a:r>
              <a:t>Zero configuration. OpenTelemetry via ServiceDefaults.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From Dev to Production: azd up</a:t>
            </a:r>
          </a:p>
        </p:txBody>
      </p:sp>
      <p:sp>
        <p:nvSpPr>
          <p:cNvPr id="4" name="Rounded Rectangle 3"/>
          <p:cNvSpPr/>
          <p:nvPr/>
        </p:nvSpPr>
        <p:spPr>
          <a:xfrm>
            <a:off x="731520" y="1463040"/>
            <a:ext cx="10515600" cy="1645920"/>
          </a:xfrm>
          <a:prstGeom prst="roundRect">
            <a:avLst/>
          </a:prstGeom>
          <a:solidFill>
            <a:srgbClr val="111122"/>
          </a:solidFill>
          <a:ln w="12700">
            <a:solidFill>
              <a:srgbClr val="333355"/>
            </a:solidFill>
          </a:ln>
        </p:spPr>
        <p:style>
          <a:lnRef idx="1">
            <a:schemeClr val="accent1"/>
          </a:lnRef>
          <a:fillRef idx="3">
            <a:schemeClr val="accent1"/>
          </a:fillRef>
          <a:effectRef idx="2">
            <a:schemeClr val="accent1"/>
          </a:effectRef>
          <a:fontRef idx="minor">
            <a:schemeClr val="lt1"/>
          </a:fontRef>
        </p:style>
        <p:txBody>
          <a:bodyPr wrap="square" lIns="182880" tIns="137160" rIns="182880" bIns="137160" rtlCol="0" anchor="ctr"/>
          <a:lstStyle/>
          <a:p>
            <a:pPr>
              <a:spcBef>
                <a:spcPts val="0"/>
              </a:spcBef>
              <a:spcAft>
                <a:spcPts val="0"/>
              </a:spcAft>
              <a:defRPr sz="1600">
                <a:solidFill>
                  <a:srgbClr val="E0E0E0"/>
                </a:solidFill>
                <a:latin typeface="Cascadia Code"/>
              </a:defRPr>
            </a:pPr>
            <a:r>
              <a:rPr dirty="0"/>
              <a:t># Deploy to Azure Container Apps</a:t>
            </a:r>
          </a:p>
          <a:p>
            <a:pPr>
              <a:spcBef>
                <a:spcPts val="0"/>
              </a:spcBef>
              <a:spcAft>
                <a:spcPts val="0"/>
              </a:spcAft>
              <a:defRPr sz="1600">
                <a:solidFill>
                  <a:srgbClr val="E0E0E0"/>
                </a:solidFill>
                <a:latin typeface="Cascadia Code"/>
              </a:defRPr>
            </a:pPr>
            <a:r>
              <a:rPr dirty="0" err="1"/>
              <a:t>azd</a:t>
            </a:r>
            <a:r>
              <a:rPr dirty="0"/>
              <a:t> auth login</a:t>
            </a:r>
          </a:p>
          <a:p>
            <a:pPr>
              <a:spcBef>
                <a:spcPts val="0"/>
              </a:spcBef>
              <a:spcAft>
                <a:spcPts val="0"/>
              </a:spcAft>
              <a:defRPr sz="1600">
                <a:solidFill>
                  <a:srgbClr val="E0E0E0"/>
                </a:solidFill>
                <a:latin typeface="Cascadia Code"/>
              </a:defRPr>
            </a:pPr>
            <a:r>
              <a:rPr dirty="0" err="1"/>
              <a:t>azd</a:t>
            </a:r>
            <a:r>
              <a:rPr dirty="0"/>
              <a:t> up            # provisions infra + deploys all services</a:t>
            </a:r>
          </a:p>
          <a:p>
            <a:pPr>
              <a:spcBef>
                <a:spcPts val="0"/>
              </a:spcBef>
              <a:spcAft>
                <a:spcPts val="0"/>
              </a:spcAft>
              <a:defRPr sz="1600">
                <a:solidFill>
                  <a:srgbClr val="E0E0E0"/>
                </a:solidFill>
                <a:latin typeface="Cascadia Code"/>
              </a:defRPr>
            </a:pPr>
            <a:endParaRPr dirty="0"/>
          </a:p>
          <a:p>
            <a:pPr>
              <a:spcBef>
                <a:spcPts val="0"/>
              </a:spcBef>
              <a:spcAft>
                <a:spcPts val="0"/>
              </a:spcAft>
              <a:defRPr sz="1600">
                <a:solidFill>
                  <a:srgbClr val="E0E0E0"/>
                </a:solidFill>
                <a:latin typeface="Cascadia Code"/>
              </a:defRPr>
            </a:pPr>
            <a:r>
              <a:rPr dirty="0"/>
              <a:t># Clean up when done</a:t>
            </a:r>
          </a:p>
          <a:p>
            <a:pPr>
              <a:spcBef>
                <a:spcPts val="0"/>
              </a:spcBef>
              <a:spcAft>
                <a:spcPts val="0"/>
              </a:spcAft>
              <a:defRPr sz="1600">
                <a:solidFill>
                  <a:srgbClr val="E0E0E0"/>
                </a:solidFill>
                <a:latin typeface="Cascadia Code"/>
              </a:defRPr>
            </a:pPr>
            <a:r>
              <a:rPr dirty="0" err="1"/>
              <a:t>azd</a:t>
            </a:r>
            <a:r>
              <a:rPr dirty="0"/>
              <a:t> down --force --purge</a:t>
            </a:r>
          </a:p>
        </p:txBody>
      </p:sp>
      <p:sp>
        <p:nvSpPr>
          <p:cNvPr id="5" name="TextBox 4"/>
          <p:cNvSpPr txBox="1"/>
          <p:nvPr/>
        </p:nvSpPr>
        <p:spPr>
          <a:xfrm>
            <a:off x="731520" y="3474720"/>
            <a:ext cx="10515600" cy="2743200"/>
          </a:xfrm>
          <a:prstGeom prst="rect">
            <a:avLst/>
          </a:prstGeom>
          <a:noFill/>
        </p:spPr>
        <p:txBody>
          <a:bodyPr wrap="square">
            <a:spAutoFit/>
          </a:bodyPr>
          <a:lstStyle/>
          <a:p>
            <a:pPr algn="l">
              <a:defRPr sz="2400" b="1">
                <a:solidFill>
                  <a:srgbClr val="FFFFFF"/>
                </a:solidFill>
                <a:latin typeface="Segoe UI"/>
              </a:defRPr>
            </a:pPr>
            <a:r>
              <a:t>What you get:</a:t>
            </a:r>
          </a:p>
          <a:p>
            <a:pPr>
              <a:spcBef>
                <a:spcPts val="400"/>
              </a:spcBef>
              <a:spcAft>
                <a:spcPts val="200"/>
              </a:spcAft>
              <a:defRPr sz="2000" b="0">
                <a:solidFill>
                  <a:srgbClr val="CCCCCC"/>
                </a:solidFill>
                <a:latin typeface="Segoe UI"/>
              </a:defRPr>
            </a:pPr>
            <a:r>
              <a:t>Azure Container Apps for all services</a:t>
            </a:r>
          </a:p>
          <a:p>
            <a:pPr>
              <a:spcBef>
                <a:spcPts val="400"/>
              </a:spcBef>
              <a:spcAft>
                <a:spcPts val="200"/>
              </a:spcAft>
              <a:defRPr sz="2000" b="0">
                <a:solidFill>
                  <a:srgbClr val="CCCCCC"/>
                </a:solidFill>
                <a:latin typeface="Segoe UI"/>
              </a:defRPr>
            </a:pPr>
            <a:r>
              <a:t>Auto-scaling on HTTP request count</a:t>
            </a:r>
          </a:p>
          <a:p>
            <a:pPr>
              <a:spcBef>
                <a:spcPts val="400"/>
              </a:spcBef>
              <a:spcAft>
                <a:spcPts val="200"/>
              </a:spcAft>
              <a:defRPr sz="2000" b="0">
                <a:solidFill>
                  <a:srgbClr val="CCCCCC"/>
                </a:solidFill>
                <a:latin typeface="Segoe UI"/>
              </a:defRPr>
            </a:pPr>
            <a:r>
              <a:t>Scale-to-zero when idle</a:t>
            </a:r>
          </a:p>
          <a:p>
            <a:pPr>
              <a:spcBef>
                <a:spcPts val="400"/>
              </a:spcBef>
              <a:spcAft>
                <a:spcPts val="200"/>
              </a:spcAft>
              <a:defRPr sz="2000" b="0">
                <a:solidFill>
                  <a:srgbClr val="CCCCCC"/>
                </a:solidFill>
                <a:latin typeface="Segoe UI"/>
              </a:defRPr>
            </a:pPr>
            <a:r>
              <a:t>Same service discovery, same observability</a:t>
            </a:r>
          </a:p>
          <a:p>
            <a:pPr algn="l">
              <a:spcBef>
                <a:spcPts val="600"/>
              </a:spcBef>
              <a:spcAft>
                <a:spcPts val="200"/>
              </a:spcAft>
              <a:defRPr sz="800" b="0">
                <a:solidFill>
                  <a:srgbClr val="FFFFFF"/>
                </a:solidFill>
                <a:latin typeface="Segoe UI"/>
              </a:defRPr>
            </a:pPr>
            <a:endParaRPr/>
          </a:p>
          <a:p>
            <a:pPr algn="l">
              <a:spcBef>
                <a:spcPts val="800"/>
              </a:spcBef>
              <a:spcAft>
                <a:spcPts val="200"/>
              </a:spcAft>
              <a:defRPr sz="2000" b="1">
                <a:solidFill>
                  <a:srgbClr val="00BCD4"/>
                </a:solidFill>
                <a:latin typeface="Segoe UI"/>
              </a:defRPr>
            </a:pPr>
            <a:r>
              <a:t>Same app model for dev AND production. No YAML. No Dockerfiles.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What Aspire Solved</a:t>
            </a:r>
          </a:p>
        </p:txBody>
      </p:sp>
      <p:sp>
        <p:nvSpPr>
          <p:cNvPr id="4" name="TextBox 3"/>
          <p:cNvSpPr txBox="1"/>
          <p:nvPr/>
        </p:nvSpPr>
        <p:spPr>
          <a:xfrm>
            <a:off x="731520" y="1371600"/>
            <a:ext cx="10515600" cy="4572000"/>
          </a:xfrm>
          <a:prstGeom prst="rect">
            <a:avLst/>
          </a:prstGeom>
          <a:noFill/>
        </p:spPr>
        <p:txBody>
          <a:bodyPr wrap="square">
            <a:spAutoFit/>
          </a:bodyPr>
          <a:lstStyle/>
          <a:p>
            <a:pPr algn="l">
              <a:defRPr sz="2800" b="1">
                <a:solidFill>
                  <a:srgbClr val="66BB6A"/>
                </a:solidFill>
                <a:latin typeface="Segoe UI"/>
              </a:defRPr>
            </a:pPr>
            <a:r>
              <a:t>Layer 3: ✅ Solved</a:t>
            </a:r>
          </a:p>
          <a:p>
            <a:pPr>
              <a:spcBef>
                <a:spcPts val="400"/>
              </a:spcBef>
              <a:spcAft>
                <a:spcPts val="200"/>
              </a:spcAft>
              <a:defRPr sz="2000" b="0">
                <a:solidFill>
                  <a:srgbClr val="66BB6A"/>
                </a:solidFill>
                <a:latin typeface="Segoe UI"/>
              </a:defRPr>
            </a:pPr>
            <a:r>
              <a:t>✅  Service orchestration (AppHost)</a:t>
            </a:r>
          </a:p>
          <a:p>
            <a:pPr>
              <a:spcBef>
                <a:spcPts val="400"/>
              </a:spcBef>
              <a:spcAft>
                <a:spcPts val="200"/>
              </a:spcAft>
              <a:defRPr sz="2000" b="0">
                <a:solidFill>
                  <a:srgbClr val="66BB6A"/>
                </a:solidFill>
                <a:latin typeface="Segoe UI"/>
              </a:defRPr>
            </a:pPr>
            <a:r>
              <a:t>✅  Service discovery (WithReference)</a:t>
            </a:r>
          </a:p>
          <a:p>
            <a:pPr>
              <a:spcBef>
                <a:spcPts val="400"/>
              </a:spcBef>
              <a:spcAft>
                <a:spcPts val="200"/>
              </a:spcAft>
              <a:defRPr sz="2000" b="0">
                <a:solidFill>
                  <a:srgbClr val="66BB6A"/>
                </a:solidFill>
                <a:latin typeface="Segoe UI"/>
              </a:defRPr>
            </a:pPr>
            <a:r>
              <a:t>✅  Dependency ordering (WaitFor)</a:t>
            </a:r>
          </a:p>
          <a:p>
            <a:pPr>
              <a:spcBef>
                <a:spcPts val="400"/>
              </a:spcBef>
              <a:spcAft>
                <a:spcPts val="200"/>
              </a:spcAft>
              <a:defRPr sz="2000" b="0">
                <a:solidFill>
                  <a:srgbClr val="66BB6A"/>
                </a:solidFill>
                <a:latin typeface="Segoe UI"/>
              </a:defRPr>
            </a:pPr>
            <a:r>
              <a:t>✅  Observability for free (OpenTelemetry)</a:t>
            </a:r>
          </a:p>
          <a:p>
            <a:pPr>
              <a:spcBef>
                <a:spcPts val="400"/>
              </a:spcBef>
              <a:spcAft>
                <a:spcPts val="200"/>
              </a:spcAft>
              <a:defRPr sz="2000" b="0">
                <a:solidFill>
                  <a:srgbClr val="66BB6A"/>
                </a:solidFill>
                <a:latin typeface="Segoe UI"/>
              </a:defRPr>
            </a:pPr>
            <a:r>
              <a:t>✅  One-command deployment (azd up)</a:t>
            </a:r>
          </a:p>
          <a:p>
            <a:pPr algn="l">
              <a:spcBef>
                <a:spcPts val="600"/>
              </a:spcBef>
              <a:spcAft>
                <a:spcPts val="200"/>
              </a:spcAft>
              <a:defRPr sz="1200" b="0">
                <a:solidFill>
                  <a:srgbClr val="FFFFFF"/>
                </a:solidFill>
                <a:latin typeface="Segoe UI"/>
              </a:defRPr>
            </a:pPr>
            <a:endParaRPr/>
          </a:p>
          <a:p>
            <a:pPr algn="l">
              <a:spcBef>
                <a:spcPts val="1600"/>
              </a:spcBef>
              <a:spcAft>
                <a:spcPts val="200"/>
              </a:spcAft>
              <a:defRPr sz="2800" b="1">
                <a:solidFill>
                  <a:srgbClr val="00BCD4"/>
                </a:solidFill>
                <a:latin typeface="Segoe UI"/>
              </a:defRPr>
            </a:pPr>
            <a:r>
              <a:t>All three layers — solved.</a:t>
            </a:r>
          </a:p>
          <a:p>
            <a:pPr algn="l">
              <a:spcBef>
                <a:spcPts val="400"/>
              </a:spcBef>
              <a:spcAft>
                <a:spcPts val="200"/>
              </a:spcAft>
              <a:defRPr sz="2200" b="0">
                <a:solidFill>
                  <a:srgbClr val="CCCCCC"/>
                </a:solidFill>
                <a:latin typeface="Segoe UI"/>
              </a:defRPr>
            </a:pPr>
            <a:r>
              <a:t>Agent Framework  +  MCP  +  Aspire  =  Simple.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3D6B"/>
        </a:solidFill>
        <a:effectLst/>
      </p:bgPr>
    </p:bg>
    <p:spTree>
      <p:nvGrpSpPr>
        <p:cNvPr id="1" name=""/>
        <p:cNvGrpSpPr/>
        <p:nvPr/>
      </p:nvGrpSpPr>
      <p:grpSpPr>
        <a:xfrm>
          <a:off x="0" y="0"/>
          <a:ext cx="0" cy="0"/>
          <a:chOff x="0" y="0"/>
          <a:chExt cx="0" cy="0"/>
        </a:xfrm>
      </p:grpSpPr>
      <p:sp>
        <p:nvSpPr>
          <p:cNvPr id="2" name="Rectangle 1"/>
          <p:cNvSpPr/>
          <p:nvPr/>
        </p:nvSpPr>
        <p:spPr>
          <a:xfrm>
            <a:off x="0" y="2926080"/>
            <a:ext cx="2286000" cy="7315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0"/>
            <a:ext cx="10515600" cy="1097280"/>
          </a:xfrm>
          <a:prstGeom prst="rect">
            <a:avLst/>
          </a:prstGeom>
          <a:noFill/>
        </p:spPr>
        <p:txBody>
          <a:bodyPr wrap="square">
            <a:spAutoFit/>
          </a:bodyPr>
          <a:lstStyle/>
          <a:p>
            <a:pPr algn="l">
              <a:defRPr sz="4400" b="1">
                <a:solidFill>
                  <a:srgbClr val="FFFFFF"/>
                </a:solidFill>
                <a:latin typeface="Segoe UI"/>
              </a:defRPr>
            </a:pPr>
            <a:r>
              <a:t>Live Demo</a:t>
            </a:r>
          </a:p>
        </p:txBody>
      </p:sp>
      <p:sp>
        <p:nvSpPr>
          <p:cNvPr id="4" name="TextBox 3"/>
          <p:cNvSpPr txBox="1"/>
          <p:nvPr/>
        </p:nvSpPr>
        <p:spPr>
          <a:xfrm>
            <a:off x="731520" y="3200400"/>
            <a:ext cx="10515600" cy="731520"/>
          </a:xfrm>
          <a:prstGeom prst="rect">
            <a:avLst/>
          </a:prstGeom>
          <a:noFill/>
        </p:spPr>
        <p:txBody>
          <a:bodyPr wrap="square">
            <a:spAutoFit/>
          </a:bodyPr>
          <a:lstStyle/>
          <a:p>
            <a:pPr algn="l">
              <a:defRPr sz="2200" b="0">
                <a:solidFill>
                  <a:srgbClr val="CCCCCC"/>
                </a:solidFill>
                <a:latin typeface="Segoe UI"/>
              </a:defRPr>
            </a:pPr>
            <a:r>
              <a:t>Clone → Run → Deploy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Demo 1: Clone &amp; Run</a:t>
            </a:r>
          </a:p>
        </p:txBody>
      </p:sp>
      <p:sp>
        <p:nvSpPr>
          <p:cNvPr id="4" name="TextBox 3"/>
          <p:cNvSpPr txBox="1"/>
          <p:nvPr/>
        </p:nvSpPr>
        <p:spPr>
          <a:xfrm>
            <a:off x="731520" y="1371600"/>
            <a:ext cx="10515600" cy="5029200"/>
          </a:xfrm>
          <a:prstGeom prst="rect">
            <a:avLst/>
          </a:prstGeom>
          <a:noFill/>
        </p:spPr>
        <p:txBody>
          <a:bodyPr wrap="square">
            <a:spAutoFit/>
          </a:bodyPr>
          <a:lstStyle/>
          <a:p>
            <a:pPr algn="l">
              <a:defRPr sz="2800" b="1">
                <a:solidFill>
                  <a:srgbClr val="00BCD4"/>
                </a:solidFill>
                <a:latin typeface="Segoe UI"/>
              </a:defRPr>
            </a:pPr>
            <a:r>
              <a:t>🎬  Live Demo: Clone &amp; Run</a:t>
            </a:r>
          </a:p>
          <a:p>
            <a:pPr algn="l">
              <a:spcBef>
                <a:spcPts val="600"/>
              </a:spcBef>
              <a:spcAft>
                <a:spcPts val="200"/>
              </a:spcAft>
              <a:defRPr sz="800" b="0">
                <a:solidFill>
                  <a:srgbClr val="FFFFFF"/>
                </a:solidFill>
                <a:latin typeface="Segoe UI"/>
              </a:defRPr>
            </a:pPr>
            <a:endParaRPr/>
          </a:p>
          <a:p>
            <a:pPr>
              <a:spcBef>
                <a:spcPts val="400"/>
              </a:spcBef>
              <a:spcAft>
                <a:spcPts val="200"/>
              </a:spcAft>
              <a:defRPr sz="2200" b="0">
                <a:solidFill>
                  <a:srgbClr val="FFFFFF"/>
                </a:solidFill>
                <a:latin typeface="Segoe UI"/>
              </a:defRPr>
            </a:pPr>
            <a:r>
              <a:t>Start the app with aspire run</a:t>
            </a:r>
          </a:p>
          <a:p>
            <a:pPr>
              <a:spcBef>
                <a:spcPts val="400"/>
              </a:spcBef>
              <a:spcAft>
                <a:spcPts val="200"/>
              </a:spcAft>
              <a:defRPr sz="2200" b="0">
                <a:solidFill>
                  <a:srgbClr val="FFFFFF"/>
                </a:solidFill>
                <a:latin typeface="Segoe UI"/>
              </a:defRPr>
            </a:pPr>
            <a:r>
              <a:t>Show Aspire Dashboard — all services green</a:t>
            </a:r>
          </a:p>
          <a:p>
            <a:pPr>
              <a:spcBef>
                <a:spcPts val="400"/>
              </a:spcBef>
              <a:spcAft>
                <a:spcPts val="200"/>
              </a:spcAft>
              <a:defRPr sz="2200" b="0">
                <a:solidFill>
                  <a:srgbClr val="FFFFFF"/>
                </a:solidFill>
                <a:latin typeface="Segoe UI"/>
              </a:defRPr>
            </a:pPr>
            <a:r>
              <a:t>Open WebUI — walk through a full interview</a:t>
            </a:r>
          </a:p>
          <a:p>
            <a:pPr>
              <a:spcBef>
                <a:spcPts val="400"/>
              </a:spcBef>
              <a:spcAft>
                <a:spcPts val="200"/>
              </a:spcAft>
              <a:defRPr sz="2200" b="0">
                <a:solidFill>
                  <a:srgbClr val="FFFFFF"/>
                </a:solidFill>
                <a:latin typeface="Segoe UI"/>
              </a:defRPr>
            </a:pPr>
            <a:r>
              <a:t>Show distributed traces in the dashboard</a:t>
            </a:r>
          </a:p>
          <a:p>
            <a:pPr>
              <a:spcBef>
                <a:spcPts val="400"/>
              </a:spcBef>
              <a:spcAft>
                <a:spcPts val="200"/>
              </a:spcAft>
              <a:defRPr sz="2200" b="0">
                <a:solidFill>
                  <a:srgbClr val="FFFFFF"/>
                </a:solidFill>
                <a:latin typeface="Segoe UI"/>
              </a:defRPr>
            </a:pPr>
            <a:r>
              <a:t>Point out MCP tool calls in action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Demo 2: Multi-Agent Handoffs</a:t>
            </a:r>
          </a:p>
        </p:txBody>
      </p:sp>
      <p:sp>
        <p:nvSpPr>
          <p:cNvPr id="4" name="TextBox 3"/>
          <p:cNvSpPr txBox="1"/>
          <p:nvPr/>
        </p:nvSpPr>
        <p:spPr>
          <a:xfrm>
            <a:off x="731520" y="1371600"/>
            <a:ext cx="10515600" cy="5029200"/>
          </a:xfrm>
          <a:prstGeom prst="rect">
            <a:avLst/>
          </a:prstGeom>
          <a:noFill/>
        </p:spPr>
        <p:txBody>
          <a:bodyPr wrap="square">
            <a:spAutoFit/>
          </a:bodyPr>
          <a:lstStyle/>
          <a:p>
            <a:pPr algn="l">
              <a:defRPr sz="2800" b="1">
                <a:solidFill>
                  <a:srgbClr val="00BCD4"/>
                </a:solidFill>
                <a:latin typeface="Segoe UI"/>
              </a:defRPr>
            </a:pPr>
            <a:r>
              <a:t>🎬  Live Demo: Multi-Agent in Action</a:t>
            </a:r>
          </a:p>
          <a:p>
            <a:pPr algn="l">
              <a:spcBef>
                <a:spcPts val="600"/>
              </a:spcBef>
              <a:spcAft>
                <a:spcPts val="200"/>
              </a:spcAft>
              <a:defRPr sz="800" b="0">
                <a:solidFill>
                  <a:srgbClr val="FFFFFF"/>
                </a:solidFill>
                <a:latin typeface="Segoe UI"/>
              </a:defRPr>
            </a:pPr>
            <a:endParaRPr/>
          </a:p>
          <a:p>
            <a:pPr>
              <a:spcBef>
                <a:spcPts val="400"/>
              </a:spcBef>
              <a:spcAft>
                <a:spcPts val="200"/>
              </a:spcAft>
              <a:defRPr sz="2200" b="0">
                <a:solidFill>
                  <a:srgbClr val="FFFFFF"/>
                </a:solidFill>
                <a:latin typeface="Segoe UI"/>
              </a:defRPr>
            </a:pPr>
            <a:r>
              <a:t>Show agent handoffs in Aspire distributed traces</a:t>
            </a:r>
          </a:p>
          <a:p>
            <a:pPr>
              <a:spcBef>
                <a:spcPts val="400"/>
              </a:spcBef>
              <a:spcAft>
                <a:spcPts val="200"/>
              </a:spcAft>
              <a:defRPr sz="2200" b="0">
                <a:solidFill>
                  <a:srgbClr val="FFFFFF"/>
                </a:solidFill>
                <a:latin typeface="Segoe UI"/>
              </a:defRPr>
            </a:pPr>
            <a:r>
              <a:t>Triage → Receptionist → Behavioural → Technical → Summariser</a:t>
            </a:r>
          </a:p>
          <a:p>
            <a:pPr>
              <a:spcBef>
                <a:spcPts val="400"/>
              </a:spcBef>
              <a:spcAft>
                <a:spcPts val="200"/>
              </a:spcAft>
              <a:defRPr sz="2200" b="0">
                <a:solidFill>
                  <a:srgbClr val="FFFFFF"/>
                </a:solidFill>
                <a:latin typeface="Segoe UI"/>
              </a:defRPr>
            </a:pPr>
            <a:r>
              <a:t>Switch to Single mode — compare traces</a:t>
            </a:r>
          </a:p>
          <a:p>
            <a:pPr>
              <a:spcBef>
                <a:spcPts val="400"/>
              </a:spcBef>
              <a:spcAft>
                <a:spcPts val="200"/>
              </a:spcAft>
              <a:defRPr sz="2200" b="0">
                <a:solidFill>
                  <a:srgbClr val="FFFFFF"/>
                </a:solidFill>
                <a:latin typeface="Segoe UI"/>
              </a:defRPr>
            </a:pPr>
            <a:r>
              <a:t>Show tool scoping per agent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Demo 3: Swap &amp; Extend</a:t>
            </a:r>
          </a:p>
        </p:txBody>
      </p:sp>
      <p:sp>
        <p:nvSpPr>
          <p:cNvPr id="4" name="TextBox 3"/>
          <p:cNvSpPr txBox="1"/>
          <p:nvPr/>
        </p:nvSpPr>
        <p:spPr>
          <a:xfrm>
            <a:off x="731520" y="1371600"/>
            <a:ext cx="10515600" cy="5029200"/>
          </a:xfrm>
          <a:prstGeom prst="rect">
            <a:avLst/>
          </a:prstGeom>
          <a:noFill/>
        </p:spPr>
        <p:txBody>
          <a:bodyPr wrap="square">
            <a:spAutoFit/>
          </a:bodyPr>
          <a:lstStyle/>
          <a:p>
            <a:pPr algn="l">
              <a:defRPr sz="2800" b="1">
                <a:solidFill>
                  <a:srgbClr val="00BCD4"/>
                </a:solidFill>
                <a:latin typeface="Segoe UI"/>
              </a:defRPr>
            </a:pPr>
            <a:r>
              <a:t>🎬  Live Demo: Swap &amp; Extend</a:t>
            </a:r>
          </a:p>
          <a:p>
            <a:pPr algn="l">
              <a:spcBef>
                <a:spcPts val="600"/>
              </a:spcBef>
              <a:spcAft>
                <a:spcPts val="200"/>
              </a:spcAft>
              <a:defRPr sz="800" b="0">
                <a:solidFill>
                  <a:srgbClr val="FFFFFF"/>
                </a:solidFill>
                <a:latin typeface="Segoe UI"/>
              </a:defRPr>
            </a:pPr>
            <a:endParaRPr/>
          </a:p>
          <a:p>
            <a:pPr>
              <a:spcBef>
                <a:spcPts val="400"/>
              </a:spcBef>
              <a:spcAft>
                <a:spcPts val="200"/>
              </a:spcAft>
              <a:defRPr sz="2200" b="0">
                <a:solidFill>
                  <a:srgbClr val="FFFFFF"/>
                </a:solidFill>
                <a:latin typeface="Segoe UI"/>
              </a:defRPr>
            </a:pPr>
            <a:r>
              <a:t>Switch LLM provider with a config flag</a:t>
            </a:r>
          </a:p>
          <a:p>
            <a:pPr>
              <a:spcBef>
                <a:spcPts val="400"/>
              </a:spcBef>
              <a:spcAft>
                <a:spcPts val="200"/>
              </a:spcAft>
              <a:defRPr sz="2200" b="0">
                <a:solidFill>
                  <a:srgbClr val="FFFFFF"/>
                </a:solidFill>
                <a:latin typeface="Segoe UI"/>
              </a:defRPr>
            </a:pPr>
            <a:r>
              <a:t>Show the app still works — zero code changes</a:t>
            </a:r>
          </a:p>
          <a:p>
            <a:pPr>
              <a:spcBef>
                <a:spcPts val="400"/>
              </a:spcBef>
              <a:spcAft>
                <a:spcPts val="200"/>
              </a:spcAft>
              <a:defRPr sz="2200" b="0">
                <a:solidFill>
                  <a:srgbClr val="FFFFFF"/>
                </a:solidFill>
                <a:latin typeface="Segoe UI"/>
              </a:defRPr>
            </a:pPr>
            <a:r>
              <a:t>Add a new MCP server — agent discovers new tools</a:t>
            </a:r>
          </a:p>
          <a:p>
            <a:pPr>
              <a:spcBef>
                <a:spcPts val="400"/>
              </a:spcBef>
              <a:spcAft>
                <a:spcPts val="200"/>
              </a:spcAft>
              <a:defRPr sz="2200" b="0">
                <a:solidFill>
                  <a:srgbClr val="FFFFFF"/>
                </a:solidFill>
                <a:latin typeface="Segoe UI"/>
              </a:defRPr>
            </a:pPr>
            <a:r>
              <a:t>The system is designed for change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The Full Picture</a:t>
            </a:r>
          </a:p>
        </p:txBody>
      </p:sp>
      <p:pic>
        <p:nvPicPr>
          <p:cNvPr id="4" name="Picture 3" descr="architecture.png"/>
          <p:cNvPicPr>
            <a:picLocks noChangeAspect="1"/>
          </p:cNvPicPr>
          <p:nvPr/>
        </p:nvPicPr>
        <p:blipFill>
          <a:blip r:embed="rId3"/>
          <a:stretch>
            <a:fillRect/>
          </a:stretch>
        </p:blipFill>
        <p:spPr>
          <a:xfrm>
            <a:off x="731520" y="1371600"/>
            <a:ext cx="7315200" cy="4572000"/>
          </a:xfrm>
          <a:prstGeom prst="rect">
            <a:avLst/>
          </a:prstGeom>
        </p:spPr>
      </p:pic>
      <p:sp>
        <p:nvSpPr>
          <p:cNvPr id="5" name="TextBox 4"/>
          <p:cNvSpPr txBox="1"/>
          <p:nvPr/>
        </p:nvSpPr>
        <p:spPr>
          <a:xfrm>
            <a:off x="8412480" y="1645920"/>
            <a:ext cx="3200400" cy="4114800"/>
          </a:xfrm>
          <a:prstGeom prst="rect">
            <a:avLst/>
          </a:prstGeom>
          <a:noFill/>
        </p:spPr>
        <p:txBody>
          <a:bodyPr wrap="square">
            <a:spAutoFit/>
          </a:bodyPr>
          <a:lstStyle/>
          <a:p>
            <a:pPr algn="l">
              <a:defRPr sz="2200" b="1">
                <a:solidFill>
                  <a:srgbClr val="FFFFFF"/>
                </a:solidFill>
                <a:latin typeface="Segoe UI"/>
              </a:defRPr>
            </a:pPr>
            <a:r>
              <a:t>Three layers,</a:t>
            </a:r>
            <a:br/>
            <a:r>
              <a:t>three solutions:</a:t>
            </a:r>
          </a:p>
          <a:p>
            <a:pPr algn="l">
              <a:spcBef>
                <a:spcPts val="1600"/>
              </a:spcBef>
              <a:spcAft>
                <a:spcPts val="200"/>
              </a:spcAft>
              <a:defRPr sz="2000" b="1">
                <a:solidFill>
                  <a:srgbClr val="00BCD4"/>
                </a:solidFill>
                <a:latin typeface="Segoe UI"/>
              </a:defRPr>
            </a:pPr>
            <a:r>
              <a:t>Agent Framework</a:t>
            </a:r>
          </a:p>
          <a:p>
            <a:pPr algn="l">
              <a:spcBef>
                <a:spcPts val="600"/>
              </a:spcBef>
              <a:spcAft>
                <a:spcPts val="200"/>
              </a:spcAft>
              <a:defRPr sz="1600" b="0">
                <a:solidFill>
                  <a:srgbClr val="CCCCCC"/>
                </a:solidFill>
                <a:latin typeface="Segoe UI"/>
              </a:defRPr>
            </a:pPr>
            <a:r>
              <a:t>→ AI layer</a:t>
            </a:r>
          </a:p>
          <a:p>
            <a:pPr algn="l">
              <a:spcBef>
                <a:spcPts val="1200"/>
              </a:spcBef>
              <a:spcAft>
                <a:spcPts val="200"/>
              </a:spcAft>
              <a:defRPr sz="2000" b="1">
                <a:solidFill>
                  <a:srgbClr val="4FC3F7"/>
                </a:solidFill>
                <a:latin typeface="Segoe UI"/>
              </a:defRPr>
            </a:pPr>
            <a:r>
              <a:t>MCP</a:t>
            </a:r>
          </a:p>
          <a:p>
            <a:pPr algn="l">
              <a:spcBef>
                <a:spcPts val="600"/>
              </a:spcBef>
              <a:spcAft>
                <a:spcPts val="200"/>
              </a:spcAft>
              <a:defRPr sz="1600" b="0">
                <a:solidFill>
                  <a:srgbClr val="CCCCCC"/>
                </a:solidFill>
                <a:latin typeface="Segoe UI"/>
              </a:defRPr>
            </a:pPr>
            <a:r>
              <a:t>→ Tool layer</a:t>
            </a:r>
          </a:p>
          <a:p>
            <a:pPr algn="l">
              <a:spcBef>
                <a:spcPts val="1200"/>
              </a:spcBef>
              <a:spcAft>
                <a:spcPts val="200"/>
              </a:spcAft>
              <a:defRPr sz="2000" b="1">
                <a:solidFill>
                  <a:srgbClr val="FFD54F"/>
                </a:solidFill>
                <a:latin typeface="Segoe UI"/>
              </a:defRPr>
            </a:pPr>
            <a:r>
              <a:t>Aspire</a:t>
            </a:r>
          </a:p>
          <a:p>
            <a:pPr algn="l">
              <a:spcBef>
                <a:spcPts val="600"/>
              </a:spcBef>
              <a:spcAft>
                <a:spcPts val="200"/>
              </a:spcAft>
              <a:defRPr sz="1600" b="0">
                <a:solidFill>
                  <a:srgbClr val="CCCCCC"/>
                </a:solidFill>
                <a:latin typeface="Segoe UI"/>
              </a:defRPr>
            </a:pPr>
            <a:r>
              <a:t>→ Infrastructure layer</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Key Takeaways</a:t>
            </a:r>
          </a:p>
        </p:txBody>
      </p:sp>
      <p:sp>
        <p:nvSpPr>
          <p:cNvPr id="4" name="TextBox 3"/>
          <p:cNvSpPr txBox="1"/>
          <p:nvPr/>
        </p:nvSpPr>
        <p:spPr>
          <a:xfrm>
            <a:off x="731520" y="1371600"/>
            <a:ext cx="10515600" cy="5029200"/>
          </a:xfrm>
          <a:prstGeom prst="rect">
            <a:avLst/>
          </a:prstGeom>
          <a:noFill/>
        </p:spPr>
        <p:txBody>
          <a:bodyPr wrap="square">
            <a:spAutoFit/>
          </a:bodyPr>
          <a:lstStyle/>
          <a:p>
            <a:endParaRPr/>
          </a:p>
          <a:p>
            <a:pPr algn="l">
              <a:spcBef>
                <a:spcPts val="1400"/>
              </a:spcBef>
              <a:spcAft>
                <a:spcPts val="200"/>
              </a:spcAft>
              <a:defRPr sz="2200" b="1">
                <a:solidFill>
                  <a:srgbClr val="00BCD4"/>
                </a:solidFill>
                <a:latin typeface="Segoe UI"/>
              </a:defRPr>
            </a:pPr>
            <a:r>
              <a:t>  Agent Framework abstracts the AI layer</a:t>
            </a:r>
          </a:p>
          <a:p>
            <a:pPr algn="l">
              <a:spcBef>
                <a:spcPts val="200"/>
              </a:spcBef>
              <a:spcAft>
                <a:spcPts val="200"/>
              </a:spcAft>
              <a:defRPr sz="1700" b="0">
                <a:solidFill>
                  <a:srgbClr val="CCCCCC"/>
                </a:solidFill>
                <a:latin typeface="Segoe UI"/>
              </a:defRPr>
            </a:pPr>
            <a:r>
              <a:t>     IChatClient + multi-agent orchestration = focus on logic, not plumbing</a:t>
            </a:r>
          </a:p>
          <a:p>
            <a:pPr algn="l">
              <a:spcBef>
                <a:spcPts val="1400"/>
              </a:spcBef>
              <a:spcAft>
                <a:spcPts val="200"/>
              </a:spcAft>
              <a:defRPr sz="2200" b="1">
                <a:solidFill>
                  <a:srgbClr val="00BCD4"/>
                </a:solidFill>
                <a:latin typeface="Segoe UI"/>
              </a:defRPr>
            </a:pPr>
            <a:r>
              <a:t>  MCP makes tools plug-and-play</a:t>
            </a:r>
          </a:p>
          <a:p>
            <a:pPr algn="l">
              <a:spcBef>
                <a:spcPts val="200"/>
              </a:spcBef>
              <a:spcAft>
                <a:spcPts val="200"/>
              </a:spcAft>
              <a:defRPr sz="1700" b="0">
                <a:solidFill>
                  <a:srgbClr val="CCCCCC"/>
                </a:solidFill>
                <a:latin typeface="Segoe UI"/>
              </a:defRPr>
            </a:pPr>
            <a:r>
              <a:t>     Build once, reuse everywhere, any language</a:t>
            </a:r>
          </a:p>
          <a:p>
            <a:pPr algn="l">
              <a:spcBef>
                <a:spcPts val="1400"/>
              </a:spcBef>
              <a:spcAft>
                <a:spcPts val="200"/>
              </a:spcAft>
              <a:defRPr sz="2200" b="1">
                <a:solidFill>
                  <a:srgbClr val="00BCD4"/>
                </a:solidFill>
                <a:latin typeface="Segoe UI"/>
              </a:defRPr>
            </a:pPr>
            <a:r>
              <a:t>  Aspire orchestrates everything else</a:t>
            </a:r>
          </a:p>
          <a:p>
            <a:pPr algn="l">
              <a:spcBef>
                <a:spcPts val="200"/>
              </a:spcBef>
              <a:spcAft>
                <a:spcPts val="200"/>
              </a:spcAft>
              <a:defRPr sz="1700" b="0">
                <a:solidFill>
                  <a:srgbClr val="CCCCCC"/>
                </a:solidFill>
                <a:latin typeface="Segoe UI"/>
              </a:defRPr>
            </a:pPr>
            <a:r>
              <a:t>     Service discovery, observability, deployment — for free</a:t>
            </a:r>
          </a:p>
          <a:p>
            <a:pPr algn="l">
              <a:spcBef>
                <a:spcPts val="1400"/>
              </a:spcBef>
              <a:spcAft>
                <a:spcPts val="200"/>
              </a:spcAft>
              <a:defRPr sz="2200" b="1">
                <a:solidFill>
                  <a:srgbClr val="00BCD4"/>
                </a:solidFill>
                <a:latin typeface="Segoe UI"/>
              </a:defRPr>
            </a:pPr>
            <a:r>
              <a:t>  Clone → Run → Deploy is achievable today</a:t>
            </a:r>
          </a:p>
          <a:p>
            <a:pPr algn="l">
              <a:spcBef>
                <a:spcPts val="200"/>
              </a:spcBef>
              <a:spcAft>
                <a:spcPts val="200"/>
              </a:spcAft>
              <a:defRPr sz="1700" b="0">
                <a:solidFill>
                  <a:srgbClr val="CCCCCC"/>
                </a:solidFill>
                <a:latin typeface="Segoe UI"/>
              </a:defRPr>
            </a:pPr>
            <a:r>
              <a:t>     32 lines of AppHost + aspire run + azd up</a:t>
            </a:r>
          </a:p>
          <a:p>
            <a:pPr algn="l">
              <a:spcBef>
                <a:spcPts val="1400"/>
              </a:spcBef>
              <a:spcAft>
                <a:spcPts val="200"/>
              </a:spcAft>
              <a:defRPr sz="2200" b="1">
                <a:solidFill>
                  <a:srgbClr val="00BCD4"/>
                </a:solidFill>
                <a:latin typeface="Segoe UI"/>
              </a:defRPr>
            </a:pPr>
            <a:r>
              <a:t>  These patterns apply to ANY agent app</a:t>
            </a:r>
          </a:p>
          <a:p>
            <a:pPr algn="l">
              <a:spcBef>
                <a:spcPts val="200"/>
              </a:spcBef>
              <a:spcAft>
                <a:spcPts val="200"/>
              </a:spcAft>
              <a:defRPr sz="1700" b="0">
                <a:solidFill>
                  <a:srgbClr val="CCCCCC"/>
                </a:solidFill>
                <a:latin typeface="Segoe UI"/>
              </a:defRPr>
            </a:pPr>
            <a:r>
              <a:t>     Swap the domain, keep the architecture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
            <a:ext cx="10515600" cy="822960"/>
          </a:xfrm>
          <a:prstGeom prst="rect">
            <a:avLst/>
          </a:prstGeom>
          <a:noFill/>
        </p:spPr>
        <p:txBody>
          <a:bodyPr wrap="square">
            <a:spAutoFit/>
          </a:bodyPr>
          <a:lstStyle/>
          <a:p>
            <a:pPr algn="l">
              <a:defRPr sz="3200" b="1">
                <a:solidFill>
                  <a:srgbClr val="00BCD4"/>
                </a:solidFill>
                <a:latin typeface="Segoe UI"/>
              </a:defRPr>
            </a:pPr>
            <a:r>
              <a:t>Resources &amp; Next Steps</a:t>
            </a:r>
          </a:p>
        </p:txBody>
      </p:sp>
      <p:sp>
        <p:nvSpPr>
          <p:cNvPr id="4" name="TextBox 3"/>
          <p:cNvSpPr txBox="1"/>
          <p:nvPr/>
        </p:nvSpPr>
        <p:spPr>
          <a:xfrm>
            <a:off x="731520" y="1371600"/>
            <a:ext cx="5486400" cy="5029200"/>
          </a:xfrm>
          <a:prstGeom prst="rect">
            <a:avLst/>
          </a:prstGeom>
          <a:noFill/>
        </p:spPr>
        <p:txBody>
          <a:bodyPr wrap="square">
            <a:spAutoFit/>
          </a:bodyPr>
          <a:lstStyle/>
          <a:p>
            <a:pPr algn="l">
              <a:defRPr sz="2400" b="1">
                <a:solidFill>
                  <a:srgbClr val="FFFFFF"/>
                </a:solidFill>
                <a:latin typeface="Segoe UI"/>
              </a:defRPr>
            </a:pPr>
            <a:r>
              <a:t>Get started today:</a:t>
            </a:r>
          </a:p>
          <a:p>
            <a:pPr>
              <a:spcBef>
                <a:spcPts val="400"/>
              </a:spcBef>
              <a:spcAft>
                <a:spcPts val="200"/>
              </a:spcAft>
              <a:defRPr sz="2000" b="1">
                <a:solidFill>
                  <a:srgbClr val="00BCD4"/>
                </a:solidFill>
                <a:latin typeface="Segoe UI"/>
              </a:defRPr>
            </a:pPr>
            <a:r>
              <a:t>📦  GitHub Repo</a:t>
            </a:r>
          </a:p>
          <a:p>
            <a:pPr lvl="1">
              <a:spcBef>
                <a:spcPts val="400"/>
              </a:spcBef>
              <a:spcAft>
                <a:spcPts val="200"/>
              </a:spcAft>
              <a:defRPr sz="1600" b="0">
                <a:solidFill>
                  <a:srgbClr val="CCCCCC"/>
                </a:solidFill>
                <a:latin typeface="Segoe UI"/>
              </a:defRPr>
            </a:pPr>
            <a:r>
              <a:t>github.com/Azure-Samples/</a:t>
            </a:r>
            <a:br/>
            <a:r>
              <a:t>     interview-coach-agent-framework</a:t>
            </a:r>
          </a:p>
          <a:p>
            <a:pPr>
              <a:spcBef>
                <a:spcPts val="400"/>
              </a:spcBef>
              <a:spcAft>
                <a:spcPts val="200"/>
              </a:spcAft>
              <a:defRPr sz="2000" b="1">
                <a:solidFill>
                  <a:srgbClr val="00BCD4"/>
                </a:solidFill>
                <a:latin typeface="Segoe UI"/>
              </a:defRPr>
            </a:pPr>
            <a:r>
              <a:t>📖  Agent Framework</a:t>
            </a:r>
          </a:p>
          <a:p>
            <a:pPr lvl="1">
              <a:spcBef>
                <a:spcPts val="400"/>
              </a:spcBef>
              <a:spcAft>
                <a:spcPts val="200"/>
              </a:spcAft>
              <a:defRPr sz="1600" b="0">
                <a:solidFill>
                  <a:srgbClr val="CCCCCC"/>
                </a:solidFill>
                <a:latin typeface="Segoe UI"/>
              </a:defRPr>
            </a:pPr>
            <a:r>
              <a:t>aka.ms/agent-framework</a:t>
            </a:r>
          </a:p>
          <a:p>
            <a:pPr>
              <a:spcBef>
                <a:spcPts val="400"/>
              </a:spcBef>
              <a:spcAft>
                <a:spcPts val="200"/>
              </a:spcAft>
              <a:defRPr sz="2000" b="1">
                <a:solidFill>
                  <a:srgbClr val="00BCD4"/>
                </a:solidFill>
                <a:latin typeface="Segoe UI"/>
              </a:defRPr>
            </a:pPr>
            <a:r>
              <a:t>🔧  MCP Spec</a:t>
            </a:r>
          </a:p>
          <a:p>
            <a:pPr lvl="1">
              <a:spcBef>
                <a:spcPts val="400"/>
              </a:spcBef>
              <a:spcAft>
                <a:spcPts val="200"/>
              </a:spcAft>
              <a:defRPr sz="1600" b="0">
                <a:solidFill>
                  <a:srgbClr val="CCCCCC"/>
                </a:solidFill>
                <a:latin typeface="Segoe UI"/>
              </a:defRPr>
            </a:pPr>
            <a:r>
              <a:t>modelcontextprotocol.io</a:t>
            </a:r>
          </a:p>
          <a:p>
            <a:pPr>
              <a:spcBef>
                <a:spcPts val="400"/>
              </a:spcBef>
              <a:spcAft>
                <a:spcPts val="200"/>
              </a:spcAft>
              <a:defRPr sz="2000" b="1">
                <a:solidFill>
                  <a:srgbClr val="00BCD4"/>
                </a:solidFill>
                <a:latin typeface="Segoe UI"/>
              </a:defRPr>
            </a:pPr>
            <a:r>
              <a:t>☁️  Aspire</a:t>
            </a:r>
          </a:p>
          <a:p>
            <a:pPr lvl="1">
              <a:spcBef>
                <a:spcPts val="400"/>
              </a:spcBef>
              <a:spcAft>
                <a:spcPts val="200"/>
              </a:spcAft>
              <a:defRPr sz="1600" b="0">
                <a:solidFill>
                  <a:srgbClr val="CCCCCC"/>
                </a:solidFill>
                <a:latin typeface="Segoe UI"/>
              </a:defRPr>
            </a:pPr>
            <a:r>
              <a:t>aspire.dev</a:t>
            </a:r>
          </a:p>
          <a:p>
            <a:pPr>
              <a:spcBef>
                <a:spcPts val="400"/>
              </a:spcBef>
              <a:spcAft>
                <a:spcPts val="200"/>
              </a:spcAft>
              <a:defRPr sz="2000" b="1">
                <a:solidFill>
                  <a:srgbClr val="00BCD4"/>
                </a:solidFill>
                <a:latin typeface="Segoe UI"/>
              </a:defRPr>
            </a:pPr>
            <a:r>
              <a:t>🤖  Foundry</a:t>
            </a:r>
          </a:p>
          <a:p>
            <a:pPr lvl="1">
              <a:spcBef>
                <a:spcPts val="400"/>
              </a:spcBef>
              <a:spcAft>
                <a:spcPts val="200"/>
              </a:spcAft>
              <a:defRPr sz="1600" b="0">
                <a:solidFill>
                  <a:srgbClr val="CCCCCC"/>
                </a:solidFill>
                <a:latin typeface="Segoe UI"/>
              </a:defRPr>
            </a:pPr>
            <a:r>
              <a:t>ai.azure.com</a:t>
            </a:r>
          </a:p>
        </p:txBody>
      </p:sp>
      <p:sp>
        <p:nvSpPr>
          <p:cNvPr id="5" name="TextBox 4"/>
          <p:cNvSpPr txBox="1"/>
          <p:nvPr/>
        </p:nvSpPr>
        <p:spPr>
          <a:xfrm>
            <a:off x="6400800" y="1371600"/>
            <a:ext cx="5029200" cy="4572000"/>
          </a:xfrm>
          <a:prstGeom prst="rect">
            <a:avLst/>
          </a:prstGeom>
          <a:noFill/>
        </p:spPr>
        <p:txBody>
          <a:bodyPr wrap="square">
            <a:spAutoFit/>
          </a:bodyPr>
          <a:lstStyle/>
          <a:p>
            <a:pPr algn="l">
              <a:defRPr sz="2400" b="1">
                <a:solidFill>
                  <a:srgbClr val="FFFFFF"/>
                </a:solidFill>
                <a:latin typeface="Segoe UI"/>
              </a:defRPr>
            </a:pPr>
            <a:r>
              <a:t>In the repo:</a:t>
            </a:r>
          </a:p>
          <a:p>
            <a:pPr>
              <a:spcBef>
                <a:spcPts val="400"/>
              </a:spcBef>
              <a:spcAft>
                <a:spcPts val="200"/>
              </a:spcAft>
              <a:defRPr sz="2000" b="0">
                <a:solidFill>
                  <a:srgbClr val="CCCCCC"/>
                </a:solidFill>
                <a:latin typeface="Segoe UI"/>
              </a:defRPr>
            </a:pPr>
            <a:r>
              <a:t>5 hands-on tutorials</a:t>
            </a:r>
          </a:p>
          <a:p>
            <a:pPr>
              <a:spcBef>
                <a:spcPts val="400"/>
              </a:spcBef>
              <a:spcAft>
                <a:spcPts val="200"/>
              </a:spcAft>
              <a:defRPr sz="2000" b="0">
                <a:solidFill>
                  <a:srgbClr val="CCCCCC"/>
                </a:solidFill>
                <a:latin typeface="Segoe UI"/>
              </a:defRPr>
            </a:pPr>
            <a:r>
              <a:t>Architecture deep-dive</a:t>
            </a:r>
          </a:p>
          <a:p>
            <a:pPr>
              <a:spcBef>
                <a:spcPts val="400"/>
              </a:spcBef>
              <a:spcAft>
                <a:spcPts val="200"/>
              </a:spcAft>
              <a:defRPr sz="2000" b="0">
                <a:solidFill>
                  <a:srgbClr val="CCCCCC"/>
                </a:solidFill>
                <a:latin typeface="Segoe UI"/>
              </a:defRPr>
            </a:pPr>
            <a:r>
              <a:t>Multi-agent guide</a:t>
            </a:r>
          </a:p>
          <a:p>
            <a:pPr>
              <a:spcBef>
                <a:spcPts val="400"/>
              </a:spcBef>
              <a:spcAft>
                <a:spcPts val="200"/>
              </a:spcAft>
              <a:defRPr sz="2000" b="0">
                <a:solidFill>
                  <a:srgbClr val="CCCCCC"/>
                </a:solidFill>
                <a:latin typeface="Segoe UI"/>
              </a:defRPr>
            </a:pPr>
            <a:r>
              <a:t>Provider setup guides</a:t>
            </a:r>
          </a:p>
          <a:p>
            <a:pPr>
              <a:spcBef>
                <a:spcPts val="400"/>
              </a:spcBef>
              <a:spcAft>
                <a:spcPts val="200"/>
              </a:spcAft>
              <a:defRPr sz="2000" b="0">
                <a:solidFill>
                  <a:srgbClr val="CCCCCC"/>
                </a:solidFill>
                <a:latin typeface="Segoe UI"/>
              </a:defRPr>
            </a:pPr>
            <a:r>
              <a:t>FAQ &amp; troubleshooting</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F3D6B"/>
        </a:solidFill>
        <a:effectLst/>
      </p:bgPr>
    </p:bg>
    <p:spTree>
      <p:nvGrpSpPr>
        <p:cNvPr id="1" name=""/>
        <p:cNvGrpSpPr/>
        <p:nvPr/>
      </p:nvGrpSpPr>
      <p:grpSpPr>
        <a:xfrm>
          <a:off x="0" y="0"/>
          <a:ext cx="0" cy="0"/>
          <a:chOff x="0" y="0"/>
          <a:chExt cx="0" cy="0"/>
        </a:xfrm>
      </p:grpSpPr>
      <p:sp>
        <p:nvSpPr>
          <p:cNvPr id="2" name="Rectangle 1"/>
          <p:cNvSpPr/>
          <p:nvPr/>
        </p:nvSpPr>
        <p:spPr>
          <a:xfrm>
            <a:off x="0" y="2926080"/>
            <a:ext cx="2743200" cy="73152"/>
          </a:xfrm>
          <a:prstGeom prst="rect">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645920"/>
            <a:ext cx="10515600" cy="1097280"/>
          </a:xfrm>
          <a:prstGeom prst="rect">
            <a:avLst/>
          </a:prstGeom>
          <a:noFill/>
        </p:spPr>
        <p:txBody>
          <a:bodyPr wrap="square">
            <a:spAutoFit/>
          </a:bodyPr>
          <a:lstStyle/>
          <a:p>
            <a:pPr algn="ctr">
              <a:defRPr sz="5200" b="1">
                <a:solidFill>
                  <a:srgbClr val="FFFFFF"/>
                </a:solidFill>
                <a:latin typeface="Segoe UI"/>
              </a:defRPr>
            </a:pPr>
            <a:r>
              <a:t>Thank You!</a:t>
            </a:r>
          </a:p>
        </p:txBody>
      </p:sp>
      <p:sp>
        <p:nvSpPr>
          <p:cNvPr id="4" name="TextBox 3"/>
          <p:cNvSpPr txBox="1"/>
          <p:nvPr/>
        </p:nvSpPr>
        <p:spPr>
          <a:xfrm>
            <a:off x="731520" y="3200400"/>
            <a:ext cx="10515600" cy="2743200"/>
          </a:xfrm>
          <a:prstGeom prst="rect">
            <a:avLst/>
          </a:prstGeom>
          <a:noFill/>
        </p:spPr>
        <p:txBody>
          <a:bodyPr wrap="square">
            <a:spAutoFit/>
          </a:bodyPr>
          <a:lstStyle/>
          <a:p>
            <a:pPr algn="ctr">
              <a:defRPr sz="3600" b="1">
                <a:solidFill>
                  <a:srgbClr val="00BCD4"/>
                </a:solidFill>
                <a:latin typeface="Segoe UI"/>
              </a:defRPr>
            </a:pPr>
            <a:r>
              <a:t>Questions?</a:t>
            </a:r>
          </a:p>
          <a:p>
            <a:pPr algn="ctr">
              <a:spcBef>
                <a:spcPts val="600"/>
              </a:spcBef>
              <a:spcAft>
                <a:spcPts val="200"/>
              </a:spcAft>
              <a:defRPr sz="1200" b="0">
                <a:solidFill>
                  <a:srgbClr val="FFFFFF"/>
                </a:solidFill>
                <a:latin typeface="Segoe UI"/>
              </a:defRPr>
            </a:pPr>
            <a:endParaRPr/>
          </a:p>
          <a:p>
            <a:pPr algn="ctr">
              <a:spcBef>
                <a:spcPts val="1200"/>
              </a:spcBef>
              <a:spcAft>
                <a:spcPts val="200"/>
              </a:spcAft>
              <a:defRPr sz="2200" b="0">
                <a:solidFill>
                  <a:srgbClr val="CCCCCC"/>
                </a:solidFill>
                <a:latin typeface="Segoe UI"/>
              </a:defRPr>
            </a:pPr>
            <a:r>
              <a:t>[Speaker Name]  •  @handle</a:t>
            </a:r>
          </a:p>
          <a:p>
            <a:pPr algn="ctr">
              <a:spcBef>
                <a:spcPts val="800"/>
              </a:spcBef>
              <a:spcAft>
                <a:spcPts val="200"/>
              </a:spcAft>
              <a:defRPr sz="1800" b="0">
                <a:solidFill>
                  <a:srgbClr val="4FC3F7"/>
                </a:solidFill>
                <a:latin typeface="Segoe UI"/>
              </a:defRPr>
            </a:pPr>
            <a:r>
              <a:t>github.com/Azure-Samples/interview-coach-agent-framework</a:t>
            </a:r>
          </a:p>
          <a:p>
            <a:pPr algn="ctr">
              <a:spcBef>
                <a:spcPts val="1600"/>
              </a:spcBef>
              <a:spcAft>
                <a:spcPts val="200"/>
              </a:spcAft>
              <a:defRPr sz="1600" b="0">
                <a:solidFill>
                  <a:srgbClr val="CCCCCC"/>
                </a:solidFill>
                <a:latin typeface="Segoe UI"/>
              </a:defRPr>
            </a:pPr>
            <a:r>
              <a:t>[QR Code Placeholder]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5</TotalTime>
  <Words>4635</Words>
  <Application>Microsoft Office PowerPoint</Application>
  <PresentationFormat>Widescreen</PresentationFormat>
  <Paragraphs>514</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Aaron Powell</cp:lastModifiedBy>
  <cp:revision>2</cp:revision>
  <dcterms:created xsi:type="dcterms:W3CDTF">2013-01-27T09:14:16Z</dcterms:created>
  <dcterms:modified xsi:type="dcterms:W3CDTF">2026-04-21T02:50:25Z</dcterms:modified>
  <cp:category/>
</cp:coreProperties>
</file>